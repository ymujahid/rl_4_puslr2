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75" r:id="rId13"/>
    <p:sldId id="268" r:id="rId14"/>
    <p:sldId id="267" r:id="rId15"/>
    <p:sldId id="269" r:id="rId16"/>
    <p:sldId id="270" r:id="rId17"/>
    <p:sldId id="271" r:id="rId18"/>
    <p:sldId id="276" r:id="rId19"/>
    <p:sldId id="272" r:id="rId20"/>
    <p:sldId id="273" r:id="rId21"/>
    <p:sldId id="274" r:id="rId22"/>
  </p:sldIdLst>
  <p:sldSz cx="12192000" cy="6858000"/>
  <p:notesSz cx="6858000" cy="9144000"/>
  <p:custDataLst>
    <p:tags r:id="rId2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028"/>
        <p:cNvGrpSpPr/>
        <p:nvPr/>
      </p:nvGrpSpPr>
      <p:grpSpPr>
        <a:xfrm>
          <a:off x="0" y="0"/>
          <a:ext cx="0" cy="0"/>
          <a:chOff x="0" y="0"/>
          <a:chExt cx="0" cy="0"/>
        </a:xfrm>
      </p:grpSpPr>
      <p:sp>
        <p:nvSpPr>
          <p:cNvPr id="1029" name="Google Shape;1029;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0" name="Google Shape;1030;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7f00c6e87e72775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3" name="Google Shape;1033;g7f00c6e87e727753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353833-D123-4CA0-B94B-6EBF20C99829}"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116BFF-16C7-4ADD-B310-8B132A9074A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170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353833-D123-4CA0-B94B-6EBF20C99829}"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116BFF-16C7-4ADD-B310-8B132A9074A0}" type="slidenum">
              <a:rPr lang="en-US" smtClean="0"/>
              <a:t>‹#›</a:t>
            </a:fld>
            <a:endParaRPr lang="en-US"/>
          </a:p>
        </p:txBody>
      </p:sp>
    </p:spTree>
    <p:extLst>
      <p:ext uri="{BB962C8B-B14F-4D97-AF65-F5344CB8AC3E}">
        <p14:creationId xmlns:p14="http://schemas.microsoft.com/office/powerpoint/2010/main" val="3762652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353833-D123-4CA0-B94B-6EBF20C99829}"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116BFF-16C7-4ADD-B310-8B132A9074A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691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353833-D123-4CA0-B94B-6EBF20C99829}"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116BFF-16C7-4ADD-B310-8B132A9074A0}" type="slidenum">
              <a:rPr lang="en-US" smtClean="0"/>
              <a:t>‹#›</a:t>
            </a:fld>
            <a:endParaRPr lang="en-US"/>
          </a:p>
        </p:txBody>
      </p:sp>
    </p:spTree>
    <p:extLst>
      <p:ext uri="{BB962C8B-B14F-4D97-AF65-F5344CB8AC3E}">
        <p14:creationId xmlns:p14="http://schemas.microsoft.com/office/powerpoint/2010/main" val="154120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353833-D123-4CA0-B94B-6EBF20C99829}" type="datetimeFigureOut">
              <a:rPr lang="en-US" smtClean="0"/>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116BFF-16C7-4ADD-B310-8B132A9074A0}" type="slidenum">
              <a:rPr lang="en-US" smtClean="0"/>
              <a:t>‹#›</a:t>
            </a:fld>
            <a:endParaRPr lang="en-US"/>
          </a:p>
        </p:txBody>
      </p:sp>
    </p:spTree>
    <p:extLst>
      <p:ext uri="{BB962C8B-B14F-4D97-AF65-F5344CB8AC3E}">
        <p14:creationId xmlns:p14="http://schemas.microsoft.com/office/powerpoint/2010/main" val="3820377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353833-D123-4CA0-B94B-6EBF20C99829}" type="datetimeFigureOut">
              <a:rPr lang="en-US" smtClean="0"/>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116BFF-16C7-4ADD-B310-8B132A9074A0}" type="slidenum">
              <a:rPr lang="en-US" smtClean="0"/>
              <a:t>‹#›</a:t>
            </a:fld>
            <a:endParaRPr lang="en-US"/>
          </a:p>
        </p:txBody>
      </p:sp>
    </p:spTree>
    <p:extLst>
      <p:ext uri="{BB962C8B-B14F-4D97-AF65-F5344CB8AC3E}">
        <p14:creationId xmlns:p14="http://schemas.microsoft.com/office/powerpoint/2010/main" val="2882060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A353833-D123-4CA0-B94B-6EBF20C99829}" type="datetimeFigureOut">
              <a:rPr lang="en-US" smtClean="0"/>
              <a:t>9/9/2025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3116BFF-16C7-4ADD-B310-8B132A9074A0}" type="slidenum">
              <a:rPr lang="en-US" smtClean="0"/>
              <a:t>‹#›</a:t>
            </a:fld>
            <a:endParaRPr lang="en-US"/>
          </a:p>
        </p:txBody>
      </p:sp>
    </p:spTree>
    <p:extLst>
      <p:ext uri="{BB962C8B-B14F-4D97-AF65-F5344CB8AC3E}">
        <p14:creationId xmlns:p14="http://schemas.microsoft.com/office/powerpoint/2010/main" val="802744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A353833-D123-4CA0-B94B-6EBF20C99829}" type="datetimeFigureOut">
              <a:rPr lang="en-US" smtClean="0"/>
              <a:t>9/9/2025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3116BFF-16C7-4ADD-B310-8B132A9074A0}" type="slidenum">
              <a:rPr lang="en-US" smtClean="0"/>
              <a:t>‹#›</a:t>
            </a:fld>
            <a:endParaRPr lang="en-US"/>
          </a:p>
        </p:txBody>
      </p:sp>
    </p:spTree>
    <p:extLst>
      <p:ext uri="{BB962C8B-B14F-4D97-AF65-F5344CB8AC3E}">
        <p14:creationId xmlns:p14="http://schemas.microsoft.com/office/powerpoint/2010/main" val="3813791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353833-D123-4CA0-B94B-6EBF20C99829}"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116BFF-16C7-4ADD-B310-8B132A9074A0}" type="slidenum">
              <a:rPr lang="en-US" smtClean="0"/>
              <a:t>‹#›</a:t>
            </a:fld>
            <a:endParaRPr lang="en-US"/>
          </a:p>
        </p:txBody>
      </p:sp>
    </p:spTree>
    <p:extLst>
      <p:ext uri="{BB962C8B-B14F-4D97-AF65-F5344CB8AC3E}">
        <p14:creationId xmlns:p14="http://schemas.microsoft.com/office/powerpoint/2010/main" val="2667447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353833-D123-4CA0-B94B-6EBF20C99829}"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116BFF-16C7-4ADD-B310-8B132A9074A0}" type="slidenum">
              <a:rPr lang="en-US" smtClean="0"/>
              <a:t>‹#›</a:t>
            </a:fld>
            <a:endParaRPr lang="en-US"/>
          </a:p>
        </p:txBody>
      </p:sp>
    </p:spTree>
    <p:extLst>
      <p:ext uri="{BB962C8B-B14F-4D97-AF65-F5344CB8AC3E}">
        <p14:creationId xmlns:p14="http://schemas.microsoft.com/office/powerpoint/2010/main" val="1348177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353833-D123-4CA0-B94B-6EBF20C99829}"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116BFF-16C7-4ADD-B310-8B132A9074A0}" type="slidenum">
              <a:rPr lang="en-US" smtClean="0"/>
              <a:t>‹#›</a:t>
            </a:fld>
            <a:endParaRPr lang="en-US"/>
          </a:p>
        </p:txBody>
      </p:sp>
    </p:spTree>
    <p:extLst>
      <p:ext uri="{BB962C8B-B14F-4D97-AF65-F5344CB8AC3E}">
        <p14:creationId xmlns:p14="http://schemas.microsoft.com/office/powerpoint/2010/main" val="2016253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A353833-D123-4CA0-B94B-6EBF20C99829}" type="datetimeFigureOut">
              <a:rPr lang="en-US" smtClean="0"/>
              <a:t>9/9/2025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3116BFF-16C7-4ADD-B310-8B132A9074A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746950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99C38-E3C4-7B2C-16E0-362E4C08BAAB}"/>
              </a:ext>
            </a:extLst>
          </p:cNvPr>
          <p:cNvSpPr>
            <a:spLocks noGrp="1"/>
          </p:cNvSpPr>
          <p:nvPr>
            <p:ph type="ctrTitle"/>
          </p:nvPr>
        </p:nvSpPr>
        <p:spPr>
          <a:xfrm>
            <a:off x="1006899" y="2140840"/>
            <a:ext cx="9440034" cy="3404554"/>
          </a:xfrm>
        </p:spPr>
        <p:txBody>
          <a:bodyPr>
            <a:noAutofit/>
          </a:bodyPr>
          <a:lstStyle/>
          <a:p>
            <a:pPr algn="ctr"/>
            <a:r>
              <a:rPr lang="en-US" sz="4400" dirty="0"/>
              <a:t>	DEVELOPMENT OF REINFORCEMENT LEARNING CONTROL OF A BRUSHLESS DC MOTOR ACTUATED PARALLELOGRAM ARM REHABILITATION ROBOT</a:t>
            </a:r>
            <a:br>
              <a:rPr lang="en-US" sz="4400" dirty="0"/>
            </a:br>
            <a:br>
              <a:rPr lang="en-US" sz="4400" dirty="0"/>
            </a:br>
            <a:r>
              <a:rPr lang="en-US" sz="4400" dirty="0"/>
              <a:t>YUNUS Mujahid Olalekan</a:t>
            </a:r>
            <a:br>
              <a:rPr lang="en-US" sz="4400" dirty="0"/>
            </a:br>
            <a:r>
              <a:rPr lang="en-US" sz="4400" dirty="0"/>
              <a:t>Supervisor: Prof K.P. Ayodele</a:t>
            </a:r>
            <a:br>
              <a:rPr lang="en-US" sz="4400" dirty="0"/>
            </a:br>
            <a:r>
              <a:rPr lang="en-US" sz="4400" dirty="0"/>
              <a:t>September 2025</a:t>
            </a:r>
          </a:p>
        </p:txBody>
      </p:sp>
    </p:spTree>
    <p:extLst>
      <p:ext uri="{BB962C8B-B14F-4D97-AF65-F5344CB8AC3E}">
        <p14:creationId xmlns:p14="http://schemas.microsoft.com/office/powerpoint/2010/main" val="731987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p1"/>
          <p:cNvSpPr txBox="1">
            <a:spLocks noGrp="1"/>
          </p:cNvSpPr>
          <p:nvPr>
            <p:ph type="title"/>
          </p:nvPr>
        </p:nvSpPr>
        <p:spPr>
          <a:prstGeom prst="rect">
            <a:avLst/>
          </a:prstGeom>
          <a:noFill/>
          <a:ln>
            <a:noFill/>
          </a:ln>
          <a:effectLst>
            <a:outerShdw blurRad="25400">
              <a:srgbClr val="000000">
                <a:alpha val="45880"/>
              </a:srgbClr>
            </a:outerShdw>
          </a:effectLst>
        </p:spPr>
        <p:txBody>
          <a:bodyPr spcFirstLastPara="1" wrap="square" lIns="91425" tIns="45700" rIns="91425" bIns="45700" anchor="b" anchorCtr="0">
            <a:normAutofit/>
          </a:bodyPr>
          <a:lstStyle/>
          <a:p>
            <a:pPr marL="0" lvl="0" indent="0" algn="ctr" rtl="0">
              <a:spcBef>
                <a:spcPts val="0"/>
              </a:spcBef>
              <a:spcAft>
                <a:spcPts val="0"/>
              </a:spcAft>
              <a:buNone/>
            </a:pPr>
            <a:r>
              <a:rPr lang="en-US"/>
              <a:t>Problem Statement</a:t>
            </a:r>
            <a:endParaRPr/>
          </a:p>
        </p:txBody>
      </p:sp>
      <p:sp>
        <p:nvSpPr>
          <p:cNvPr id="1036" name="Google Shape;1036;p1"/>
          <p:cNvSpPr txBox="1">
            <a:spLocks noGrp="1"/>
          </p:cNvSpPr>
          <p:nvPr>
            <p:ph idx="1"/>
          </p:nvPr>
        </p:nvSpPr>
        <p:spPr>
          <a:prstGeom prst="rect">
            <a:avLst/>
          </a:prstGeom>
          <a:noFill/>
          <a:ln>
            <a:noFill/>
          </a:ln>
          <a:effectLst>
            <a:outerShdw blurRad="25400">
              <a:srgbClr val="000000">
                <a:alpha val="45880"/>
              </a:srgbClr>
            </a:outerShdw>
          </a:effectLst>
        </p:spPr>
        <p:txBody>
          <a:bodyPr spcFirstLastPara="1" wrap="square" lIns="91425" tIns="45700" rIns="91425" bIns="45700" anchor="t" anchorCtr="0">
            <a:noAutofit/>
          </a:bodyPr>
          <a:lstStyle/>
          <a:p>
            <a:pPr marL="0" lvl="0" indent="0" rtl="0">
              <a:spcBef>
                <a:spcPts val="400"/>
              </a:spcBef>
              <a:spcAft>
                <a:spcPts val="600"/>
              </a:spcAft>
              <a:buNone/>
            </a:pPr>
            <a:r>
              <a:rPr lang="en-US" sz="3000" dirty="0"/>
              <a:t>The current control of the platform for upper limb stroke rehabilitation (PULSR) robot is hard coded in C#. This control approach lacks adequate robustness to errors affecting the effectiveness of the rehabilitation and safety of the patient. So, there is a need to train the robot with intelligent models that can make it more robust to errors enhancing the effectiveness and user safety.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7B5B5-5434-A9AC-4966-1FC894F77E90}"/>
              </a:ext>
            </a:extLst>
          </p:cNvPr>
          <p:cNvSpPr>
            <a:spLocks noGrp="1"/>
          </p:cNvSpPr>
          <p:nvPr>
            <p:ph type="title"/>
          </p:nvPr>
        </p:nvSpPr>
        <p:spPr/>
        <p:txBody>
          <a:bodyPr/>
          <a:lstStyle/>
          <a:p>
            <a:r>
              <a:rPr lang="en-US" dirty="0">
                <a:solidFill>
                  <a:schemeClr val="tx1"/>
                </a:solidFill>
              </a:rPr>
              <a:t>Goal of the Project</a:t>
            </a:r>
          </a:p>
        </p:txBody>
      </p:sp>
      <p:sp>
        <p:nvSpPr>
          <p:cNvPr id="3" name="Content Placeholder 2">
            <a:extLst>
              <a:ext uri="{FF2B5EF4-FFF2-40B4-BE49-F238E27FC236}">
                <a16:creationId xmlns:a16="http://schemas.microsoft.com/office/drawing/2014/main" id="{4DADC094-E489-A413-41AF-3D8D2BD8F037}"/>
              </a:ext>
            </a:extLst>
          </p:cNvPr>
          <p:cNvSpPr>
            <a:spLocks noGrp="1"/>
          </p:cNvSpPr>
          <p:nvPr>
            <p:ph idx="1"/>
          </p:nvPr>
        </p:nvSpPr>
        <p:spPr/>
        <p:txBody>
          <a:bodyPr>
            <a:normAutofit/>
          </a:bodyPr>
          <a:lstStyle/>
          <a:p>
            <a:pPr marL="36900" indent="0">
              <a:buNone/>
            </a:pPr>
            <a:endParaRPr lang="en-US" dirty="0">
              <a:effectLst/>
            </a:endParaRPr>
          </a:p>
          <a:p>
            <a:pPr marL="36900" indent="0">
              <a:buNone/>
            </a:pPr>
            <a:r>
              <a:rPr lang="en-US" sz="3600" b="1" dirty="0">
                <a:solidFill>
                  <a:schemeClr val="tx1"/>
                </a:solidFill>
                <a:effectLst/>
              </a:rPr>
              <a:t>To develop reinforcement learning model for the PULSR brushless DC motor actuated parallelogram arm robot.</a:t>
            </a:r>
          </a:p>
          <a:p>
            <a:pPr marL="36900" indent="0">
              <a:buNone/>
            </a:pPr>
            <a:r>
              <a:rPr lang="en-US" sz="3600" b="1" dirty="0">
                <a:solidFill>
                  <a:schemeClr val="tx1"/>
                </a:solidFill>
                <a:effectLst/>
              </a:rPr>
              <a:t>PULSR: Platform for Upper Limb Stroke Rehabilitation</a:t>
            </a:r>
            <a:endParaRPr lang="en-US" sz="3600" b="1" dirty="0">
              <a:solidFill>
                <a:schemeClr val="tx1"/>
              </a:solidFill>
            </a:endParaRPr>
          </a:p>
        </p:txBody>
      </p:sp>
    </p:spTree>
    <p:extLst>
      <p:ext uri="{BB962C8B-B14F-4D97-AF65-F5344CB8AC3E}">
        <p14:creationId xmlns:p14="http://schemas.microsoft.com/office/powerpoint/2010/main" val="3882348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26747-8A5D-DD12-092B-CB8B13E9C4A0}"/>
              </a:ext>
            </a:extLst>
          </p:cNvPr>
          <p:cNvSpPr>
            <a:spLocks noGrp="1"/>
          </p:cNvSpPr>
          <p:nvPr>
            <p:ph type="title"/>
          </p:nvPr>
        </p:nvSpPr>
        <p:spPr>
          <a:xfrm>
            <a:off x="913794" y="0"/>
            <a:ext cx="10058400" cy="1450757"/>
          </a:xfrm>
        </p:spPr>
        <p:txBody>
          <a:bodyPr/>
          <a:lstStyle/>
          <a:p>
            <a:r>
              <a:rPr lang="en-US" dirty="0"/>
              <a:t>Objectives of the Project</a:t>
            </a:r>
          </a:p>
        </p:txBody>
      </p:sp>
      <p:sp>
        <p:nvSpPr>
          <p:cNvPr id="3" name="Content Placeholder 2">
            <a:extLst>
              <a:ext uri="{FF2B5EF4-FFF2-40B4-BE49-F238E27FC236}">
                <a16:creationId xmlns:a16="http://schemas.microsoft.com/office/drawing/2014/main" id="{76794C9E-9BA4-7F40-F0CC-E651F45EA315}"/>
              </a:ext>
            </a:extLst>
          </p:cNvPr>
          <p:cNvSpPr>
            <a:spLocks noGrp="1"/>
          </p:cNvSpPr>
          <p:nvPr>
            <p:ph idx="1"/>
          </p:nvPr>
        </p:nvSpPr>
        <p:spPr>
          <a:xfrm>
            <a:off x="913794" y="1732449"/>
            <a:ext cx="11278205" cy="4953486"/>
          </a:xfrm>
        </p:spPr>
        <p:txBody>
          <a:bodyPr>
            <a:normAutofit fontScale="25000" lnSpcReduction="20000"/>
          </a:bodyPr>
          <a:lstStyle/>
          <a:p>
            <a:pPr marL="36900" indent="0">
              <a:buNone/>
            </a:pPr>
            <a:r>
              <a:rPr lang="en-US" sz="8000" b="1" dirty="0" err="1">
                <a:solidFill>
                  <a:schemeClr val="tx1"/>
                </a:solidFill>
                <a:effectLst/>
              </a:rPr>
              <a:t>i</a:t>
            </a:r>
            <a:r>
              <a:rPr lang="en-US" sz="8000" b="1" dirty="0">
                <a:solidFill>
                  <a:schemeClr val="tx1"/>
                </a:solidFill>
                <a:effectLst/>
              </a:rPr>
              <a:t>. establish the State-of-the-art in reinforcement learning for robotic </a:t>
            </a:r>
          </a:p>
          <a:p>
            <a:pPr marL="36900" indent="0">
              <a:buNone/>
            </a:pPr>
            <a:r>
              <a:rPr lang="en-US" sz="8000" b="1" dirty="0">
                <a:solidFill>
                  <a:schemeClr val="tx1"/>
                </a:solidFill>
                <a:effectLst/>
              </a:rPr>
              <a:t>rehabilitation to identify existing approaches and highlight research gaps;</a:t>
            </a:r>
          </a:p>
          <a:p>
            <a:pPr marL="36900" indent="0">
              <a:buNone/>
            </a:pPr>
            <a:endParaRPr lang="en-US" sz="8000" b="1" dirty="0">
              <a:solidFill>
                <a:schemeClr val="tx1"/>
              </a:solidFill>
              <a:effectLst/>
            </a:endParaRPr>
          </a:p>
          <a:p>
            <a:pPr marL="36900" indent="0">
              <a:buNone/>
            </a:pPr>
            <a:r>
              <a:rPr lang="en-US" sz="8000" b="1" dirty="0">
                <a:solidFill>
                  <a:schemeClr val="tx1"/>
                </a:solidFill>
                <a:effectLst/>
              </a:rPr>
              <a:t>ii. investigate foundational theories and understand the analysis of the </a:t>
            </a:r>
          </a:p>
          <a:p>
            <a:pPr marL="36900" indent="0">
              <a:buNone/>
            </a:pPr>
            <a:r>
              <a:rPr lang="en-US" sz="8000" b="1" dirty="0">
                <a:solidFill>
                  <a:schemeClr val="tx1"/>
                </a:solidFill>
                <a:effectLst/>
              </a:rPr>
              <a:t>PULSR2 robot's kinematics and dynamics;</a:t>
            </a:r>
          </a:p>
          <a:p>
            <a:pPr marL="36900" indent="0">
              <a:buNone/>
            </a:pPr>
            <a:endParaRPr lang="en-US" sz="8000" b="1" dirty="0">
              <a:solidFill>
                <a:schemeClr val="tx1"/>
              </a:solidFill>
              <a:effectLst/>
            </a:endParaRPr>
          </a:p>
          <a:p>
            <a:pPr marL="36900" indent="0">
              <a:buNone/>
            </a:pPr>
            <a:r>
              <a:rPr lang="en-US" sz="8000" b="1" dirty="0">
                <a:solidFill>
                  <a:schemeClr val="tx1"/>
                </a:solidFill>
                <a:effectLst/>
              </a:rPr>
              <a:t>iii. establish the current ability of the PULSR2 robot to anticipate and augment user input and identify specific areas where RL can offer significant improvements;</a:t>
            </a:r>
          </a:p>
          <a:p>
            <a:pPr marL="36900" indent="0">
              <a:buNone/>
            </a:pPr>
            <a:endParaRPr lang="en-US" sz="8000" b="1" dirty="0">
              <a:solidFill>
                <a:schemeClr val="tx1"/>
              </a:solidFill>
              <a:effectLst/>
            </a:endParaRPr>
          </a:p>
          <a:p>
            <a:pPr marL="36900" indent="0">
              <a:buNone/>
            </a:pPr>
            <a:r>
              <a:rPr lang="en-US" sz="8000" b="1" dirty="0">
                <a:solidFill>
                  <a:schemeClr val="tx1"/>
                </a:solidFill>
                <a:effectLst/>
              </a:rPr>
              <a:t>iv. design and develop RL models that can offer those improvements; and</a:t>
            </a:r>
          </a:p>
          <a:p>
            <a:pPr marL="36900" indent="0">
              <a:buNone/>
            </a:pPr>
            <a:endParaRPr lang="en-US" sz="8000" b="1" dirty="0">
              <a:solidFill>
                <a:schemeClr val="tx1"/>
              </a:solidFill>
              <a:effectLst/>
            </a:endParaRPr>
          </a:p>
          <a:p>
            <a:pPr marL="36900" indent="0">
              <a:buNone/>
            </a:pPr>
            <a:r>
              <a:rPr lang="en-US" sz="8000" b="1" dirty="0">
                <a:solidFill>
                  <a:schemeClr val="tx1"/>
                </a:solidFill>
                <a:effectLst/>
              </a:rPr>
              <a:t>v. deploy and evaluate the performance of the RL models on PULSR2.</a:t>
            </a:r>
            <a:br>
              <a:rPr lang="en-US" dirty="0"/>
            </a:br>
            <a:endParaRPr lang="en-US" dirty="0"/>
          </a:p>
        </p:txBody>
      </p:sp>
    </p:spTree>
    <p:extLst>
      <p:ext uri="{BB962C8B-B14F-4D97-AF65-F5344CB8AC3E}">
        <p14:creationId xmlns:p14="http://schemas.microsoft.com/office/powerpoint/2010/main" val="1501472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80E62-38C7-34A9-547F-E452764105B9}"/>
              </a:ext>
            </a:extLst>
          </p:cNvPr>
          <p:cNvSpPr>
            <a:spLocks noGrp="1"/>
          </p:cNvSpPr>
          <p:nvPr>
            <p:ph type="title"/>
          </p:nvPr>
        </p:nvSpPr>
        <p:spPr/>
        <p:txBody>
          <a:bodyPr/>
          <a:lstStyle/>
          <a:p>
            <a:r>
              <a:rPr lang="en-US" dirty="0"/>
              <a:t>State-of-the-art in RL for Rehab Robotics</a:t>
            </a:r>
          </a:p>
        </p:txBody>
      </p:sp>
      <p:sp>
        <p:nvSpPr>
          <p:cNvPr id="3" name="Content Placeholder 2">
            <a:extLst>
              <a:ext uri="{FF2B5EF4-FFF2-40B4-BE49-F238E27FC236}">
                <a16:creationId xmlns:a16="http://schemas.microsoft.com/office/drawing/2014/main" id="{71902C17-0460-ADBC-3FFF-EDE01238167B}"/>
              </a:ext>
            </a:extLst>
          </p:cNvPr>
          <p:cNvSpPr>
            <a:spLocks noGrp="1"/>
          </p:cNvSpPr>
          <p:nvPr>
            <p:ph idx="1"/>
          </p:nvPr>
        </p:nvSpPr>
        <p:spPr/>
        <p:txBody>
          <a:bodyPr/>
          <a:lstStyle/>
          <a:p>
            <a:pPr>
              <a:buFont typeface="Wingdings" panose="05000000000000000000" pitchFamily="2" charset="2"/>
              <a:buChar char="v"/>
            </a:pPr>
            <a:r>
              <a:rPr lang="en-US" dirty="0"/>
              <a:t>In 2020, Zhang et al used </a:t>
            </a:r>
            <a:r>
              <a:rPr lang="en-US" dirty="0">
                <a:effectLst/>
              </a:rPr>
              <a:t>Deep Deterministic Policy Gradient (DDPG) to enable adaptive assist-as-needed control, adjusting assistance based on patient performance, and improve motor learning by promoting active patient participation.</a:t>
            </a:r>
          </a:p>
          <a:p>
            <a:pPr>
              <a:buFont typeface="Wingdings" panose="05000000000000000000" pitchFamily="2" charset="2"/>
              <a:buChar char="v"/>
            </a:pPr>
            <a:r>
              <a:rPr lang="en-US" dirty="0" err="1">
                <a:effectLst/>
              </a:rPr>
              <a:t>Bingjing</a:t>
            </a:r>
            <a:r>
              <a:rPr lang="en-US" dirty="0">
                <a:effectLst/>
              </a:rPr>
              <a:t> et al used the SARSA(0) algorithm to adapt the robot’s admittance parameters during active rehabilitation training, in the year 2019.</a:t>
            </a:r>
          </a:p>
          <a:p>
            <a:pPr>
              <a:buFont typeface="Wingdings" panose="05000000000000000000" pitchFamily="2" charset="2"/>
              <a:buChar char="v"/>
            </a:pPr>
            <a:r>
              <a:rPr lang="en-US" dirty="0">
                <a:effectLst/>
              </a:rPr>
              <a:t>In the same year, </a:t>
            </a:r>
            <a:r>
              <a:rPr lang="en-US" dirty="0" err="1">
                <a:effectLst/>
              </a:rPr>
              <a:t>Rovini</a:t>
            </a:r>
            <a:r>
              <a:rPr lang="en-US" dirty="0">
                <a:effectLst/>
              </a:rPr>
              <a:t> et al used Deep Q-Learning (DQN) to cluster and select fine-motor exercises in Parkinson’s rehab games, letting the system pick the next task based on patient performance predictions.</a:t>
            </a:r>
          </a:p>
          <a:p>
            <a:pPr>
              <a:buFont typeface="Wingdings" panose="05000000000000000000" pitchFamily="2" charset="2"/>
              <a:buChar char="v"/>
            </a:pPr>
            <a:r>
              <a:rPr lang="en-US" dirty="0">
                <a:effectLst/>
              </a:rPr>
              <a:t>In 2015, Hong et al used Gaussian Process RL to facilitate collision-free motion planning for safe rehabilitation while reducing the computational complexity compared to deep RL models.</a:t>
            </a:r>
          </a:p>
          <a:p>
            <a:pPr>
              <a:buFont typeface="Wingdings" panose="05000000000000000000" pitchFamily="2" charset="2"/>
              <a:buChar char="v"/>
            </a:pPr>
            <a:endParaRPr lang="en-US" dirty="0"/>
          </a:p>
        </p:txBody>
      </p:sp>
    </p:spTree>
    <p:extLst>
      <p:ext uri="{BB962C8B-B14F-4D97-AF65-F5344CB8AC3E}">
        <p14:creationId xmlns:p14="http://schemas.microsoft.com/office/powerpoint/2010/main" val="163907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1708C-D936-24B6-7772-0028FAC2B027}"/>
              </a:ext>
            </a:extLst>
          </p:cNvPr>
          <p:cNvSpPr>
            <a:spLocks noGrp="1"/>
          </p:cNvSpPr>
          <p:nvPr>
            <p:ph type="title"/>
          </p:nvPr>
        </p:nvSpPr>
        <p:spPr/>
        <p:txBody>
          <a:bodyPr>
            <a:normAutofit/>
          </a:bodyPr>
          <a:lstStyle/>
          <a:p>
            <a:r>
              <a:rPr lang="en-US" dirty="0"/>
              <a:t>Foundational Theories: PULSR Kinematics</a:t>
            </a:r>
          </a:p>
        </p:txBody>
      </p:sp>
      <p:pic>
        <p:nvPicPr>
          <p:cNvPr id="1026" name="Picture 2">
            <a:extLst>
              <a:ext uri="{FF2B5EF4-FFF2-40B4-BE49-F238E27FC236}">
                <a16:creationId xmlns:a16="http://schemas.microsoft.com/office/drawing/2014/main" id="{C4A72283-5AA9-F6F0-2400-B32BC92CDB2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6756" y="1963354"/>
            <a:ext cx="4900133" cy="45456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7B37797-3E56-A28F-540E-AF94C1475E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8750" y="1841384"/>
            <a:ext cx="4584718" cy="3438539"/>
          </a:xfrm>
          <a:prstGeom prst="rect">
            <a:avLst/>
          </a:prstGeom>
        </p:spPr>
      </p:pic>
      <p:pic>
        <p:nvPicPr>
          <p:cNvPr id="7" name="Picture 6">
            <a:extLst>
              <a:ext uri="{FF2B5EF4-FFF2-40B4-BE49-F238E27FC236}">
                <a16:creationId xmlns:a16="http://schemas.microsoft.com/office/drawing/2014/main" id="{F508F11E-0E63-7AC3-24C6-97C44A9512F2}"/>
              </a:ext>
            </a:extLst>
          </p:cNvPr>
          <p:cNvPicPr>
            <a:picLocks noChangeAspect="1"/>
          </p:cNvPicPr>
          <p:nvPr/>
        </p:nvPicPr>
        <p:blipFill>
          <a:blip r:embed="rId4"/>
          <a:stretch>
            <a:fillRect/>
          </a:stretch>
        </p:blipFill>
        <p:spPr>
          <a:xfrm>
            <a:off x="5354911" y="5370724"/>
            <a:ext cx="4723154" cy="1117813"/>
          </a:xfrm>
          <a:prstGeom prst="rect">
            <a:avLst/>
          </a:prstGeom>
        </p:spPr>
      </p:pic>
    </p:spTree>
    <p:extLst>
      <p:ext uri="{BB962C8B-B14F-4D97-AF65-F5344CB8AC3E}">
        <p14:creationId xmlns:p14="http://schemas.microsoft.com/office/powerpoint/2010/main" val="3593348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19898-1F7C-4C71-450C-C7CB327EE8AE}"/>
              </a:ext>
            </a:extLst>
          </p:cNvPr>
          <p:cNvSpPr>
            <a:spLocks noGrp="1"/>
          </p:cNvSpPr>
          <p:nvPr>
            <p:ph type="title"/>
          </p:nvPr>
        </p:nvSpPr>
        <p:spPr/>
        <p:txBody>
          <a:bodyPr/>
          <a:lstStyle/>
          <a:p>
            <a:r>
              <a:rPr lang="en-US" dirty="0"/>
              <a:t>Foundational Theories: PULSR Dynamics</a:t>
            </a:r>
          </a:p>
        </p:txBody>
      </p:sp>
      <p:pic>
        <p:nvPicPr>
          <p:cNvPr id="5" name="Content Placeholder 4">
            <a:extLst>
              <a:ext uri="{FF2B5EF4-FFF2-40B4-BE49-F238E27FC236}">
                <a16:creationId xmlns:a16="http://schemas.microsoft.com/office/drawing/2014/main" id="{7A879E10-5110-73E9-3E43-CD3A16E04F17}"/>
              </a:ext>
            </a:extLst>
          </p:cNvPr>
          <p:cNvPicPr>
            <a:picLocks noGrp="1" noChangeAspect="1"/>
          </p:cNvPicPr>
          <p:nvPr>
            <p:ph idx="1"/>
          </p:nvPr>
        </p:nvPicPr>
        <p:blipFill>
          <a:blip r:embed="rId2"/>
          <a:stretch>
            <a:fillRect/>
          </a:stretch>
        </p:blipFill>
        <p:spPr>
          <a:xfrm>
            <a:off x="752038" y="1895844"/>
            <a:ext cx="6769639" cy="967091"/>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607ED28B-495C-D8C0-3FA2-D12BFBB6AFDC}"/>
              </a:ext>
            </a:extLst>
          </p:cNvPr>
          <p:cNvPicPr>
            <a:picLocks noChangeAspect="1"/>
          </p:cNvPicPr>
          <p:nvPr/>
        </p:nvPicPr>
        <p:blipFill>
          <a:blip r:embed="rId3"/>
          <a:stretch>
            <a:fillRect/>
          </a:stretch>
        </p:blipFill>
        <p:spPr>
          <a:xfrm>
            <a:off x="1135496" y="2862935"/>
            <a:ext cx="5267864" cy="1954871"/>
          </a:xfrm>
          <a:prstGeom prst="rect">
            <a:avLst/>
          </a:prstGeom>
        </p:spPr>
      </p:pic>
      <p:pic>
        <p:nvPicPr>
          <p:cNvPr id="13" name="Picture 12">
            <a:extLst>
              <a:ext uri="{FF2B5EF4-FFF2-40B4-BE49-F238E27FC236}">
                <a16:creationId xmlns:a16="http://schemas.microsoft.com/office/drawing/2014/main" id="{2366BE73-510B-D0C0-5286-294CF81CF501}"/>
              </a:ext>
            </a:extLst>
          </p:cNvPr>
          <p:cNvPicPr>
            <a:picLocks noChangeAspect="1"/>
          </p:cNvPicPr>
          <p:nvPr/>
        </p:nvPicPr>
        <p:blipFill>
          <a:blip r:embed="rId4"/>
          <a:stretch>
            <a:fillRect/>
          </a:stretch>
        </p:blipFill>
        <p:spPr>
          <a:xfrm>
            <a:off x="6713221" y="2862935"/>
            <a:ext cx="5320635" cy="1522252"/>
          </a:xfrm>
          <a:prstGeom prst="rect">
            <a:avLst/>
          </a:prstGeom>
        </p:spPr>
      </p:pic>
    </p:spTree>
    <p:extLst>
      <p:ext uri="{BB962C8B-B14F-4D97-AF65-F5344CB8AC3E}">
        <p14:creationId xmlns:p14="http://schemas.microsoft.com/office/powerpoint/2010/main" val="2484398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0C60F-832E-C4A6-49A9-7FFE86E65F02}"/>
              </a:ext>
            </a:extLst>
          </p:cNvPr>
          <p:cNvSpPr>
            <a:spLocks noGrp="1"/>
          </p:cNvSpPr>
          <p:nvPr>
            <p:ph type="title"/>
          </p:nvPr>
        </p:nvSpPr>
        <p:spPr/>
        <p:txBody>
          <a:bodyPr/>
          <a:lstStyle/>
          <a:p>
            <a:r>
              <a:rPr lang="en-US" dirty="0"/>
              <a:t>Foundational Theories: PULSR Dynamics</a:t>
            </a:r>
          </a:p>
        </p:txBody>
      </p:sp>
      <p:pic>
        <p:nvPicPr>
          <p:cNvPr id="5" name="Content Placeholder 4">
            <a:extLst>
              <a:ext uri="{FF2B5EF4-FFF2-40B4-BE49-F238E27FC236}">
                <a16:creationId xmlns:a16="http://schemas.microsoft.com/office/drawing/2014/main" id="{3DFA1CF4-A901-7143-5BC9-A0B28890295F}"/>
              </a:ext>
            </a:extLst>
          </p:cNvPr>
          <p:cNvPicPr>
            <a:picLocks noGrp="1" noChangeAspect="1"/>
          </p:cNvPicPr>
          <p:nvPr>
            <p:ph idx="1"/>
          </p:nvPr>
        </p:nvPicPr>
        <p:blipFill>
          <a:blip r:embed="rId2"/>
          <a:stretch>
            <a:fillRect/>
          </a:stretch>
        </p:blipFill>
        <p:spPr>
          <a:xfrm>
            <a:off x="621376" y="3374118"/>
            <a:ext cx="4287764" cy="1488498"/>
          </a:xfrm>
          <a:prstGeom prst="rect">
            <a:avLst/>
          </a:prstGeom>
          <a:effectLst>
            <a:outerShdw blurRad="25400" dir="17880000">
              <a:srgbClr val="000000">
                <a:alpha val="46000"/>
              </a:srgbClr>
            </a:outerShdw>
          </a:effectLst>
        </p:spPr>
      </p:pic>
      <p:pic>
        <p:nvPicPr>
          <p:cNvPr id="11" name="Picture 10">
            <a:extLst>
              <a:ext uri="{FF2B5EF4-FFF2-40B4-BE49-F238E27FC236}">
                <a16:creationId xmlns:a16="http://schemas.microsoft.com/office/drawing/2014/main" id="{5E30A0D9-483A-66A9-38B5-6897A9E30564}"/>
              </a:ext>
            </a:extLst>
          </p:cNvPr>
          <p:cNvPicPr>
            <a:picLocks noChangeAspect="1"/>
          </p:cNvPicPr>
          <p:nvPr/>
        </p:nvPicPr>
        <p:blipFill>
          <a:blip r:embed="rId3"/>
          <a:stretch>
            <a:fillRect/>
          </a:stretch>
        </p:blipFill>
        <p:spPr>
          <a:xfrm>
            <a:off x="6015131" y="2157615"/>
            <a:ext cx="3928287" cy="1216503"/>
          </a:xfrm>
          <a:prstGeom prst="rect">
            <a:avLst/>
          </a:prstGeom>
        </p:spPr>
      </p:pic>
      <p:pic>
        <p:nvPicPr>
          <p:cNvPr id="9" name="Picture 8">
            <a:extLst>
              <a:ext uri="{FF2B5EF4-FFF2-40B4-BE49-F238E27FC236}">
                <a16:creationId xmlns:a16="http://schemas.microsoft.com/office/drawing/2014/main" id="{70D52B3A-21E9-253D-1A92-7EA318DE7525}"/>
              </a:ext>
            </a:extLst>
          </p:cNvPr>
          <p:cNvPicPr>
            <a:picLocks noChangeAspect="1"/>
          </p:cNvPicPr>
          <p:nvPr/>
        </p:nvPicPr>
        <p:blipFill>
          <a:blip r:embed="rId4"/>
          <a:stretch>
            <a:fillRect/>
          </a:stretch>
        </p:blipFill>
        <p:spPr>
          <a:xfrm>
            <a:off x="1538619" y="1957781"/>
            <a:ext cx="2453278" cy="1216503"/>
          </a:xfrm>
          <a:prstGeom prst="rect">
            <a:avLst/>
          </a:prstGeom>
        </p:spPr>
      </p:pic>
      <p:pic>
        <p:nvPicPr>
          <p:cNvPr id="7" name="Picture 6">
            <a:extLst>
              <a:ext uri="{FF2B5EF4-FFF2-40B4-BE49-F238E27FC236}">
                <a16:creationId xmlns:a16="http://schemas.microsoft.com/office/drawing/2014/main" id="{FDB280D7-D7EE-CF11-23FA-46145E0BB733}"/>
              </a:ext>
            </a:extLst>
          </p:cNvPr>
          <p:cNvPicPr>
            <a:picLocks noChangeAspect="1"/>
          </p:cNvPicPr>
          <p:nvPr/>
        </p:nvPicPr>
        <p:blipFill>
          <a:blip r:embed="rId5"/>
          <a:stretch>
            <a:fillRect/>
          </a:stretch>
        </p:blipFill>
        <p:spPr>
          <a:xfrm>
            <a:off x="5201265" y="3620580"/>
            <a:ext cx="6205863" cy="2576828"/>
          </a:xfrm>
          <a:prstGeom prst="rect">
            <a:avLst/>
          </a:prstGeom>
        </p:spPr>
      </p:pic>
      <p:sp>
        <p:nvSpPr>
          <p:cNvPr id="8" name="TextBox 7">
            <a:extLst>
              <a:ext uri="{FF2B5EF4-FFF2-40B4-BE49-F238E27FC236}">
                <a16:creationId xmlns:a16="http://schemas.microsoft.com/office/drawing/2014/main" id="{C9440217-4F76-CAC9-D44D-BFB9F9EAEAE6}"/>
              </a:ext>
            </a:extLst>
          </p:cNvPr>
          <p:cNvSpPr txBox="1"/>
          <p:nvPr/>
        </p:nvSpPr>
        <p:spPr>
          <a:xfrm>
            <a:off x="621376" y="5220929"/>
            <a:ext cx="4442237" cy="646331"/>
          </a:xfrm>
          <a:prstGeom prst="rect">
            <a:avLst/>
          </a:prstGeom>
          <a:noFill/>
        </p:spPr>
        <p:txBody>
          <a:bodyPr wrap="square" rtlCol="0">
            <a:spAutoFit/>
          </a:bodyPr>
          <a:lstStyle/>
          <a:p>
            <a:r>
              <a:rPr lang="en-US" dirty="0"/>
              <a:t>Where k is a 2x1 matrix of constants that can be determined experimentally.</a:t>
            </a:r>
          </a:p>
        </p:txBody>
      </p:sp>
    </p:spTree>
    <p:extLst>
      <p:ext uri="{BB962C8B-B14F-4D97-AF65-F5344CB8AC3E}">
        <p14:creationId xmlns:p14="http://schemas.microsoft.com/office/powerpoint/2010/main" val="3574069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A89E2-F199-9A6B-A1BE-D1D4B0E7498F}"/>
              </a:ext>
            </a:extLst>
          </p:cNvPr>
          <p:cNvSpPr>
            <a:spLocks noGrp="1"/>
          </p:cNvSpPr>
          <p:nvPr>
            <p:ph type="title"/>
          </p:nvPr>
        </p:nvSpPr>
        <p:spPr/>
        <p:txBody>
          <a:bodyPr/>
          <a:lstStyle/>
          <a:p>
            <a:r>
              <a:rPr lang="en-US" dirty="0"/>
              <a:t>PULSR Current Control</a:t>
            </a:r>
          </a:p>
        </p:txBody>
      </p:sp>
      <p:pic>
        <p:nvPicPr>
          <p:cNvPr id="4" name="current_PULSR_Control_clearer">
            <a:hlinkClick r:id="" action="ppaction://media"/>
            <a:extLst>
              <a:ext uri="{FF2B5EF4-FFF2-40B4-BE49-F238E27FC236}">
                <a16:creationId xmlns:a16="http://schemas.microsoft.com/office/drawing/2014/main" id="{4B7B7B91-3E86-5B51-B0CD-A0B0CC34878D}"/>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rot="16200000">
            <a:off x="3081338" y="-434975"/>
            <a:ext cx="5164137" cy="9180513"/>
          </a:xfrm>
        </p:spPr>
      </p:pic>
    </p:spTree>
    <p:extLst>
      <p:ext uri="{BB962C8B-B14F-4D97-AF65-F5344CB8AC3E}">
        <p14:creationId xmlns:p14="http://schemas.microsoft.com/office/powerpoint/2010/main" val="4155947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54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6719CDE-7347-8F2E-C5F7-BFC6FE1B81B9}"/>
              </a:ext>
            </a:extLst>
          </p:cNvPr>
          <p:cNvPicPr>
            <a:picLocks noGrp="1" noChangeAspect="1"/>
          </p:cNvPicPr>
          <p:nvPr>
            <p:ph idx="1"/>
          </p:nvPr>
        </p:nvPicPr>
        <p:blipFill>
          <a:blip r:embed="rId2"/>
          <a:stretch>
            <a:fillRect/>
          </a:stretch>
        </p:blipFill>
        <p:spPr>
          <a:xfrm>
            <a:off x="0" y="-291278"/>
            <a:ext cx="12128920" cy="7180144"/>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038978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7DBCD-C586-3C30-11B2-BA00055C15C2}"/>
              </a:ext>
            </a:extLst>
          </p:cNvPr>
          <p:cNvSpPr>
            <a:spLocks noGrp="1"/>
          </p:cNvSpPr>
          <p:nvPr>
            <p:ph type="title"/>
          </p:nvPr>
        </p:nvSpPr>
        <p:spPr/>
        <p:txBody>
          <a:bodyPr/>
          <a:lstStyle/>
          <a:p>
            <a:r>
              <a:rPr lang="en-US" dirty="0"/>
              <a:t>RL Problem Formulation for PULSR</a:t>
            </a:r>
          </a:p>
        </p:txBody>
      </p:sp>
      <p:pic>
        <p:nvPicPr>
          <p:cNvPr id="11" name="Content Placeholder 10">
            <a:extLst>
              <a:ext uri="{FF2B5EF4-FFF2-40B4-BE49-F238E27FC236}">
                <a16:creationId xmlns:a16="http://schemas.microsoft.com/office/drawing/2014/main" id="{A8B194CA-B47C-EF7E-C14D-5A4029D824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1474" y="1846263"/>
            <a:ext cx="7309377" cy="4022725"/>
          </a:xfrm>
        </p:spPr>
      </p:pic>
    </p:spTree>
    <p:extLst>
      <p:ext uri="{BB962C8B-B14F-4D97-AF65-F5344CB8AC3E}">
        <p14:creationId xmlns:p14="http://schemas.microsoft.com/office/powerpoint/2010/main" val="1431072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9D8B9-99D1-2B26-CE52-B18454FF465E}"/>
              </a:ext>
            </a:extLst>
          </p:cNvPr>
          <p:cNvSpPr>
            <a:spLocks noGrp="1"/>
          </p:cNvSpPr>
          <p:nvPr>
            <p:ph type="title"/>
          </p:nvPr>
        </p:nvSpPr>
        <p:spPr/>
        <p:txBody>
          <a:bodyPr/>
          <a:lstStyle/>
          <a:p>
            <a:r>
              <a:rPr lang="en-US" dirty="0"/>
              <a:t>Development of RL Environment for PULSR</a:t>
            </a:r>
          </a:p>
        </p:txBody>
      </p:sp>
      <p:sp>
        <p:nvSpPr>
          <p:cNvPr id="3" name="Content Placeholder 2">
            <a:extLst>
              <a:ext uri="{FF2B5EF4-FFF2-40B4-BE49-F238E27FC236}">
                <a16:creationId xmlns:a16="http://schemas.microsoft.com/office/drawing/2014/main" id="{08A7A8B2-249C-B53C-8494-2DBC16B5F830}"/>
              </a:ext>
            </a:extLst>
          </p:cNvPr>
          <p:cNvSpPr>
            <a:spLocks noGrp="1"/>
          </p:cNvSpPr>
          <p:nvPr>
            <p:ph idx="1"/>
          </p:nvPr>
        </p:nvSpPr>
        <p:spPr/>
        <p:txBody>
          <a:bodyPr>
            <a:normAutofit lnSpcReduction="10000"/>
          </a:bodyPr>
          <a:lstStyle/>
          <a:p>
            <a:r>
              <a:rPr lang="en-US" sz="3500" b="1" dirty="0">
                <a:solidFill>
                  <a:schemeClr val="tx1"/>
                </a:solidFill>
              </a:rPr>
              <a:t>Data Collection for PULSR Environment Specifications</a:t>
            </a:r>
          </a:p>
          <a:p>
            <a:r>
              <a:rPr lang="en-US" sz="3500" b="1" dirty="0">
                <a:solidFill>
                  <a:schemeClr val="tx1"/>
                </a:solidFill>
              </a:rPr>
              <a:t>Creation of a Data Processing Pipeline </a:t>
            </a:r>
          </a:p>
          <a:p>
            <a:pPr lvl="1"/>
            <a:r>
              <a:rPr lang="en-US" sz="3000" b="1" dirty="0">
                <a:solidFill>
                  <a:schemeClr val="tx1"/>
                </a:solidFill>
              </a:rPr>
              <a:t>Input: Logged episode data separated in folders by mode</a:t>
            </a:r>
          </a:p>
          <a:p>
            <a:pPr lvl="1"/>
            <a:r>
              <a:rPr lang="en-US" sz="3000" b="1" dirty="0">
                <a:solidFill>
                  <a:schemeClr val="tx1"/>
                </a:solidFill>
              </a:rPr>
              <a:t>Output:	</a:t>
            </a:r>
          </a:p>
          <a:p>
            <a:pPr lvl="2"/>
            <a:r>
              <a:rPr lang="en-US" sz="2600" b="1" dirty="0">
                <a:solidFill>
                  <a:schemeClr val="tx1"/>
                </a:solidFill>
              </a:rPr>
              <a:t>the logged episode data separated in folders by mode</a:t>
            </a:r>
          </a:p>
          <a:p>
            <a:pPr lvl="2"/>
            <a:r>
              <a:rPr lang="en-US" sz="2600" b="1" dirty="0">
                <a:solidFill>
                  <a:schemeClr val="tx1"/>
                </a:solidFill>
              </a:rPr>
              <a:t>Reward of each episode </a:t>
            </a:r>
          </a:p>
          <a:p>
            <a:pPr lvl="2"/>
            <a:r>
              <a:rPr lang="en-US" sz="2600" b="1" dirty="0">
                <a:solidFill>
                  <a:schemeClr val="tx1"/>
                </a:solidFill>
              </a:rPr>
              <a:t>Concatenated x-y coordinates </a:t>
            </a:r>
          </a:p>
          <a:p>
            <a:r>
              <a:rPr lang="en-US" sz="3000" b="1" dirty="0">
                <a:solidFill>
                  <a:schemeClr val="tx1"/>
                </a:solidFill>
              </a:rPr>
              <a:t>Definition of environment specifications</a:t>
            </a:r>
          </a:p>
          <a:p>
            <a:endParaRPr lang="en-US" dirty="0"/>
          </a:p>
        </p:txBody>
      </p:sp>
    </p:spTree>
    <p:extLst>
      <p:ext uri="{BB962C8B-B14F-4D97-AF65-F5344CB8AC3E}">
        <p14:creationId xmlns:p14="http://schemas.microsoft.com/office/powerpoint/2010/main" val="83074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FB3F-8828-2B2A-8DBE-43B8BE899A44}"/>
              </a:ext>
            </a:extLst>
          </p:cNvPr>
          <p:cNvSpPr>
            <a:spLocks noGrp="1"/>
          </p:cNvSpPr>
          <p:nvPr>
            <p:ph type="title"/>
          </p:nvPr>
        </p:nvSpPr>
        <p:spPr/>
        <p:txBody>
          <a:bodyPr/>
          <a:lstStyle/>
          <a:p>
            <a:r>
              <a:rPr lang="en-US" dirty="0"/>
              <a:t>Development of RL Environment for PULSR</a:t>
            </a:r>
          </a:p>
        </p:txBody>
      </p:sp>
      <p:graphicFrame>
        <p:nvGraphicFramePr>
          <p:cNvPr id="4" name="Content Placeholder 3">
            <a:extLst>
              <a:ext uri="{FF2B5EF4-FFF2-40B4-BE49-F238E27FC236}">
                <a16:creationId xmlns:a16="http://schemas.microsoft.com/office/drawing/2014/main" id="{0459DB44-53F8-64C8-C1F4-74C93AAA63D3}"/>
              </a:ext>
            </a:extLst>
          </p:cNvPr>
          <p:cNvGraphicFramePr>
            <a:graphicFrameLocks noGrp="1"/>
          </p:cNvGraphicFramePr>
          <p:nvPr>
            <p:ph idx="1"/>
            <p:extLst>
              <p:ext uri="{D42A27DB-BD31-4B8C-83A1-F6EECF244321}">
                <p14:modId xmlns:p14="http://schemas.microsoft.com/office/powerpoint/2010/main" val="2081133757"/>
              </p:ext>
            </p:extLst>
          </p:nvPr>
        </p:nvGraphicFramePr>
        <p:xfrm>
          <a:off x="1179266" y="2445288"/>
          <a:ext cx="3048002" cy="2629409"/>
        </p:xfrm>
        <a:graphic>
          <a:graphicData uri="http://schemas.openxmlformats.org/drawingml/2006/table">
            <a:tbl>
              <a:tblPr firstRow="1" bandRow="1">
                <a:tableStyleId>{5C22544A-7EE6-4342-B048-85BDC9FD1C3A}</a:tableStyleId>
              </a:tblPr>
              <a:tblGrid>
                <a:gridCol w="879049">
                  <a:extLst>
                    <a:ext uri="{9D8B030D-6E8A-4147-A177-3AD203B41FA5}">
                      <a16:colId xmlns:a16="http://schemas.microsoft.com/office/drawing/2014/main" val="3769785853"/>
                    </a:ext>
                  </a:extLst>
                </a:gridCol>
                <a:gridCol w="2168953">
                  <a:extLst>
                    <a:ext uri="{9D8B030D-6E8A-4147-A177-3AD203B41FA5}">
                      <a16:colId xmlns:a16="http://schemas.microsoft.com/office/drawing/2014/main" val="2630910896"/>
                    </a:ext>
                  </a:extLst>
                </a:gridCol>
              </a:tblGrid>
              <a:tr h="663517">
                <a:tc>
                  <a:txBody>
                    <a:bodyPr/>
                    <a:lstStyle/>
                    <a:p>
                      <a:r>
                        <a:rPr lang="en-US" dirty="0"/>
                        <a:t>Action</a:t>
                      </a:r>
                    </a:p>
                  </a:txBody>
                  <a:tcPr/>
                </a:tc>
                <a:tc>
                  <a:txBody>
                    <a:bodyPr/>
                    <a:lstStyle/>
                    <a:p>
                      <a:r>
                        <a:rPr lang="en-US" dirty="0"/>
                        <a:t>Mapping</a:t>
                      </a:r>
                    </a:p>
                  </a:txBody>
                  <a:tcPr/>
                </a:tc>
                <a:extLst>
                  <a:ext uri="{0D108BD9-81ED-4DB2-BD59-A6C34878D82A}">
                    <a16:rowId xmlns:a16="http://schemas.microsoft.com/office/drawing/2014/main" val="4138242276"/>
                  </a:ext>
                </a:extLst>
              </a:tr>
              <a:tr h="461611">
                <a:tc>
                  <a:txBody>
                    <a:bodyPr/>
                    <a:lstStyle/>
                    <a:p>
                      <a:r>
                        <a:rPr lang="en-US" dirty="0"/>
                        <a:t>0</a:t>
                      </a:r>
                    </a:p>
                  </a:txBody>
                  <a:tcPr/>
                </a:tc>
                <a:tc>
                  <a:txBody>
                    <a:bodyPr/>
                    <a:lstStyle/>
                    <a:p>
                      <a:r>
                        <a:rPr lang="en-US" dirty="0"/>
                        <a:t>North (Increase y)</a:t>
                      </a:r>
                    </a:p>
                  </a:txBody>
                  <a:tcPr/>
                </a:tc>
                <a:extLst>
                  <a:ext uri="{0D108BD9-81ED-4DB2-BD59-A6C34878D82A}">
                    <a16:rowId xmlns:a16="http://schemas.microsoft.com/office/drawing/2014/main" val="3216875978"/>
                  </a:ext>
                </a:extLst>
              </a:tr>
              <a:tr h="379153">
                <a:tc>
                  <a:txBody>
                    <a:bodyPr/>
                    <a:lstStyle/>
                    <a:p>
                      <a:r>
                        <a:rPr lang="en-US" dirty="0"/>
                        <a:t>1</a:t>
                      </a:r>
                    </a:p>
                  </a:txBody>
                  <a:tcPr/>
                </a:tc>
                <a:tc>
                  <a:txBody>
                    <a:bodyPr/>
                    <a:lstStyle/>
                    <a:p>
                      <a:r>
                        <a:rPr lang="en-US" dirty="0"/>
                        <a:t>East (Increase x)</a:t>
                      </a:r>
                    </a:p>
                  </a:txBody>
                  <a:tcPr/>
                </a:tc>
                <a:extLst>
                  <a:ext uri="{0D108BD9-81ED-4DB2-BD59-A6C34878D82A}">
                    <a16:rowId xmlns:a16="http://schemas.microsoft.com/office/drawing/2014/main" val="1243162463"/>
                  </a:ext>
                </a:extLst>
              </a:tr>
              <a:tr h="663517">
                <a:tc>
                  <a:txBody>
                    <a:bodyPr/>
                    <a:lstStyle/>
                    <a:p>
                      <a:r>
                        <a:rPr lang="en-US" dirty="0"/>
                        <a:t>2</a:t>
                      </a:r>
                    </a:p>
                  </a:txBody>
                  <a:tcPr/>
                </a:tc>
                <a:tc>
                  <a:txBody>
                    <a:bodyPr/>
                    <a:lstStyle/>
                    <a:p>
                      <a:r>
                        <a:rPr lang="en-US" dirty="0"/>
                        <a:t>South ( Decrease y)</a:t>
                      </a:r>
                    </a:p>
                  </a:txBody>
                  <a:tcPr/>
                </a:tc>
                <a:extLst>
                  <a:ext uri="{0D108BD9-81ED-4DB2-BD59-A6C34878D82A}">
                    <a16:rowId xmlns:a16="http://schemas.microsoft.com/office/drawing/2014/main" val="2594666612"/>
                  </a:ext>
                </a:extLst>
              </a:tr>
              <a:tr h="461611">
                <a:tc>
                  <a:txBody>
                    <a:bodyPr/>
                    <a:lstStyle/>
                    <a:p>
                      <a:r>
                        <a:rPr lang="en-US" dirty="0"/>
                        <a:t>3</a:t>
                      </a:r>
                    </a:p>
                  </a:txBody>
                  <a:tcPr/>
                </a:tc>
                <a:tc>
                  <a:txBody>
                    <a:bodyPr/>
                    <a:lstStyle/>
                    <a:p>
                      <a:r>
                        <a:rPr lang="en-US" dirty="0"/>
                        <a:t>West (Decrease x)</a:t>
                      </a:r>
                    </a:p>
                  </a:txBody>
                  <a:tcPr/>
                </a:tc>
                <a:extLst>
                  <a:ext uri="{0D108BD9-81ED-4DB2-BD59-A6C34878D82A}">
                    <a16:rowId xmlns:a16="http://schemas.microsoft.com/office/drawing/2014/main" val="3549602219"/>
                  </a:ext>
                </a:extLst>
              </a:tr>
            </a:tbl>
          </a:graphicData>
        </a:graphic>
      </p:graphicFrame>
      <p:graphicFrame>
        <p:nvGraphicFramePr>
          <p:cNvPr id="5" name="Content Placeholder 3">
            <a:extLst>
              <a:ext uri="{FF2B5EF4-FFF2-40B4-BE49-F238E27FC236}">
                <a16:creationId xmlns:a16="http://schemas.microsoft.com/office/drawing/2014/main" id="{5F4A03B1-5AE5-3895-7208-D0DDC84AA43F}"/>
              </a:ext>
            </a:extLst>
          </p:cNvPr>
          <p:cNvGraphicFramePr>
            <a:graphicFrameLocks/>
          </p:cNvGraphicFramePr>
          <p:nvPr>
            <p:extLst>
              <p:ext uri="{D42A27DB-BD31-4B8C-83A1-F6EECF244321}">
                <p14:modId xmlns:p14="http://schemas.microsoft.com/office/powerpoint/2010/main" val="2090411963"/>
              </p:ext>
            </p:extLst>
          </p:nvPr>
        </p:nvGraphicFramePr>
        <p:xfrm>
          <a:off x="4641429" y="2434760"/>
          <a:ext cx="3165384" cy="1508361"/>
        </p:xfrm>
        <a:graphic>
          <a:graphicData uri="http://schemas.openxmlformats.org/drawingml/2006/table">
            <a:tbl>
              <a:tblPr firstRow="1" bandRow="1">
                <a:tableStyleId>{5C22544A-7EE6-4342-B048-85BDC9FD1C3A}</a:tableStyleId>
              </a:tblPr>
              <a:tblGrid>
                <a:gridCol w="912902">
                  <a:extLst>
                    <a:ext uri="{9D8B030D-6E8A-4147-A177-3AD203B41FA5}">
                      <a16:colId xmlns:a16="http://schemas.microsoft.com/office/drawing/2014/main" val="3769785853"/>
                    </a:ext>
                  </a:extLst>
                </a:gridCol>
                <a:gridCol w="2252482">
                  <a:extLst>
                    <a:ext uri="{9D8B030D-6E8A-4147-A177-3AD203B41FA5}">
                      <a16:colId xmlns:a16="http://schemas.microsoft.com/office/drawing/2014/main" val="2630910896"/>
                    </a:ext>
                  </a:extLst>
                </a:gridCol>
              </a:tblGrid>
              <a:tr h="661110">
                <a:tc>
                  <a:txBody>
                    <a:bodyPr/>
                    <a:lstStyle/>
                    <a:p>
                      <a:r>
                        <a:rPr lang="en-US" dirty="0" err="1"/>
                        <a:t>Dist</a:t>
                      </a:r>
                      <a:endParaRPr lang="en-US" dirty="0"/>
                    </a:p>
                  </a:txBody>
                  <a:tcPr/>
                </a:tc>
                <a:tc>
                  <a:txBody>
                    <a:bodyPr/>
                    <a:lstStyle/>
                    <a:p>
                      <a:r>
                        <a:rPr lang="en-US" dirty="0"/>
                        <a:t>Reward</a:t>
                      </a:r>
                    </a:p>
                  </a:txBody>
                  <a:tcPr/>
                </a:tc>
                <a:extLst>
                  <a:ext uri="{0D108BD9-81ED-4DB2-BD59-A6C34878D82A}">
                    <a16:rowId xmlns:a16="http://schemas.microsoft.com/office/drawing/2014/main" val="4138242276"/>
                  </a:ext>
                </a:extLst>
              </a:tr>
              <a:tr h="459936">
                <a:tc>
                  <a:txBody>
                    <a:bodyPr/>
                    <a:lstStyle/>
                    <a:p>
                      <a:r>
                        <a:rPr lang="en-US" dirty="0"/>
                        <a:t>&lt;=10</a:t>
                      </a:r>
                    </a:p>
                  </a:txBody>
                  <a:tcPr/>
                </a:tc>
                <a:tc>
                  <a:txBody>
                    <a:bodyPr/>
                    <a:lstStyle/>
                    <a:p>
                      <a:r>
                        <a:rPr lang="en-US" dirty="0"/>
                        <a:t>1</a:t>
                      </a:r>
                    </a:p>
                  </a:txBody>
                  <a:tcPr/>
                </a:tc>
                <a:extLst>
                  <a:ext uri="{0D108BD9-81ED-4DB2-BD59-A6C34878D82A}">
                    <a16:rowId xmlns:a16="http://schemas.microsoft.com/office/drawing/2014/main" val="3216875978"/>
                  </a:ext>
                </a:extLst>
              </a:tr>
              <a:tr h="387315">
                <a:tc>
                  <a:txBody>
                    <a:bodyPr/>
                    <a:lstStyle/>
                    <a:p>
                      <a:r>
                        <a:rPr lang="en-US" dirty="0"/>
                        <a:t>&gt;10</a:t>
                      </a:r>
                    </a:p>
                  </a:txBody>
                  <a:tcPr/>
                </a:tc>
                <a:tc>
                  <a:txBody>
                    <a:bodyPr/>
                    <a:lstStyle/>
                    <a:p>
                      <a:r>
                        <a:rPr lang="en-US" dirty="0"/>
                        <a:t>-1</a:t>
                      </a:r>
                    </a:p>
                  </a:txBody>
                  <a:tcPr/>
                </a:tc>
                <a:extLst>
                  <a:ext uri="{0D108BD9-81ED-4DB2-BD59-A6C34878D82A}">
                    <a16:rowId xmlns:a16="http://schemas.microsoft.com/office/drawing/2014/main" val="1243162463"/>
                  </a:ext>
                </a:extLst>
              </a:tr>
            </a:tbl>
          </a:graphicData>
        </a:graphic>
      </p:graphicFrame>
      <p:sp>
        <p:nvSpPr>
          <p:cNvPr id="6" name="TextBox 5">
            <a:extLst>
              <a:ext uri="{FF2B5EF4-FFF2-40B4-BE49-F238E27FC236}">
                <a16:creationId xmlns:a16="http://schemas.microsoft.com/office/drawing/2014/main" id="{0185634E-6999-5A89-948B-D750C76169E4}"/>
              </a:ext>
            </a:extLst>
          </p:cNvPr>
          <p:cNvSpPr txBox="1"/>
          <p:nvPr/>
        </p:nvSpPr>
        <p:spPr>
          <a:xfrm>
            <a:off x="4537587" y="4797831"/>
            <a:ext cx="6872748" cy="369332"/>
          </a:xfrm>
          <a:prstGeom prst="rect">
            <a:avLst/>
          </a:prstGeom>
          <a:noFill/>
        </p:spPr>
        <p:txBody>
          <a:bodyPr wrap="square" rtlCol="0">
            <a:spAutoFit/>
          </a:bodyPr>
          <a:lstStyle/>
          <a:p>
            <a:r>
              <a:rPr lang="en-US" dirty="0"/>
              <a:t>Where </a:t>
            </a:r>
            <a:r>
              <a:rPr lang="en-US" dirty="0" err="1"/>
              <a:t>dist</a:t>
            </a:r>
            <a:r>
              <a:rPr lang="en-US" dirty="0"/>
              <a:t> = Euclidean distance between the agent and the target</a:t>
            </a:r>
          </a:p>
        </p:txBody>
      </p:sp>
    </p:spTree>
    <p:extLst>
      <p:ext uri="{BB962C8B-B14F-4D97-AF65-F5344CB8AC3E}">
        <p14:creationId xmlns:p14="http://schemas.microsoft.com/office/powerpoint/2010/main" val="3750062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B17F3-D245-927F-B930-A2F986B8DFAD}"/>
              </a:ext>
            </a:extLst>
          </p:cNvPr>
          <p:cNvSpPr>
            <a:spLocks noGrp="1"/>
          </p:cNvSpPr>
          <p:nvPr>
            <p:ph type="title"/>
          </p:nvPr>
        </p:nvSpPr>
        <p:spPr/>
        <p:txBody>
          <a:bodyPr/>
          <a:lstStyle/>
          <a:p>
            <a:r>
              <a:rPr lang="en-US" dirty="0"/>
              <a:t>Development of RL Environment for PULSR</a:t>
            </a:r>
          </a:p>
        </p:txBody>
      </p:sp>
      <p:graphicFrame>
        <p:nvGraphicFramePr>
          <p:cNvPr id="4" name="Content Placeholder 3">
            <a:extLst>
              <a:ext uri="{FF2B5EF4-FFF2-40B4-BE49-F238E27FC236}">
                <a16:creationId xmlns:a16="http://schemas.microsoft.com/office/drawing/2014/main" id="{EAD8C432-CB2F-26CE-56F0-5A1A83B2337E}"/>
              </a:ext>
            </a:extLst>
          </p:cNvPr>
          <p:cNvGraphicFramePr>
            <a:graphicFrameLocks noGrp="1"/>
          </p:cNvGraphicFramePr>
          <p:nvPr>
            <p:ph idx="1"/>
            <p:extLst>
              <p:ext uri="{D42A27DB-BD31-4B8C-83A1-F6EECF244321}">
                <p14:modId xmlns:p14="http://schemas.microsoft.com/office/powerpoint/2010/main" val="4013985018"/>
              </p:ext>
            </p:extLst>
          </p:nvPr>
        </p:nvGraphicFramePr>
        <p:xfrm>
          <a:off x="1096963" y="1846263"/>
          <a:ext cx="10058396" cy="3205480"/>
        </p:xfrm>
        <a:graphic>
          <a:graphicData uri="http://schemas.openxmlformats.org/drawingml/2006/table">
            <a:tbl>
              <a:tblPr firstRow="1" bandRow="1">
                <a:tableStyleId>{5C22544A-7EE6-4342-B048-85BDC9FD1C3A}</a:tableStyleId>
              </a:tblPr>
              <a:tblGrid>
                <a:gridCol w="2514599">
                  <a:extLst>
                    <a:ext uri="{9D8B030D-6E8A-4147-A177-3AD203B41FA5}">
                      <a16:colId xmlns:a16="http://schemas.microsoft.com/office/drawing/2014/main" val="658272508"/>
                    </a:ext>
                  </a:extLst>
                </a:gridCol>
                <a:gridCol w="2514599">
                  <a:extLst>
                    <a:ext uri="{9D8B030D-6E8A-4147-A177-3AD203B41FA5}">
                      <a16:colId xmlns:a16="http://schemas.microsoft.com/office/drawing/2014/main" val="4221653490"/>
                    </a:ext>
                  </a:extLst>
                </a:gridCol>
                <a:gridCol w="2514599">
                  <a:extLst>
                    <a:ext uri="{9D8B030D-6E8A-4147-A177-3AD203B41FA5}">
                      <a16:colId xmlns:a16="http://schemas.microsoft.com/office/drawing/2014/main" val="723414411"/>
                    </a:ext>
                  </a:extLst>
                </a:gridCol>
                <a:gridCol w="2514599">
                  <a:extLst>
                    <a:ext uri="{9D8B030D-6E8A-4147-A177-3AD203B41FA5}">
                      <a16:colId xmlns:a16="http://schemas.microsoft.com/office/drawing/2014/main" val="3447882261"/>
                    </a:ext>
                  </a:extLst>
                </a:gridCol>
              </a:tblGrid>
              <a:tr h="370840">
                <a:tc>
                  <a:txBody>
                    <a:bodyPr/>
                    <a:lstStyle/>
                    <a:p>
                      <a:r>
                        <a:rPr lang="en-US" dirty="0"/>
                        <a:t>Method</a:t>
                      </a:r>
                    </a:p>
                  </a:txBody>
                  <a:tcPr marL="88832" marR="88832"/>
                </a:tc>
                <a:tc>
                  <a:txBody>
                    <a:bodyPr/>
                    <a:lstStyle/>
                    <a:p>
                      <a:r>
                        <a:rPr lang="en-US" dirty="0"/>
                        <a:t>Argument(s)</a:t>
                      </a:r>
                    </a:p>
                  </a:txBody>
                  <a:tcPr marL="88832" marR="88832"/>
                </a:tc>
                <a:tc>
                  <a:txBody>
                    <a:bodyPr/>
                    <a:lstStyle/>
                    <a:p>
                      <a:r>
                        <a:rPr lang="en-US" dirty="0"/>
                        <a:t>Return Value(s)</a:t>
                      </a:r>
                    </a:p>
                  </a:txBody>
                  <a:tcPr marL="88832" marR="88832"/>
                </a:tc>
                <a:tc>
                  <a:txBody>
                    <a:bodyPr/>
                    <a:lstStyle/>
                    <a:p>
                      <a:r>
                        <a:rPr lang="en-US" dirty="0"/>
                        <a:t>Purpose</a:t>
                      </a:r>
                    </a:p>
                  </a:txBody>
                  <a:tcPr marL="88832" marR="88832"/>
                </a:tc>
                <a:extLst>
                  <a:ext uri="{0D108BD9-81ED-4DB2-BD59-A6C34878D82A}">
                    <a16:rowId xmlns:a16="http://schemas.microsoft.com/office/drawing/2014/main" val="1774419352"/>
                  </a:ext>
                </a:extLst>
              </a:tr>
              <a:tr h="370840">
                <a:tc>
                  <a:txBody>
                    <a:bodyPr/>
                    <a:lstStyle/>
                    <a:p>
                      <a:r>
                        <a:rPr lang="en-US" dirty="0" err="1"/>
                        <a:t>init</a:t>
                      </a:r>
                      <a:endParaRPr lang="en-US" dirty="0"/>
                    </a:p>
                  </a:txBody>
                  <a:tcPr marL="88832" marR="88832"/>
                </a:tc>
                <a:tc>
                  <a:txBody>
                    <a:bodyPr/>
                    <a:lstStyle/>
                    <a:p>
                      <a:r>
                        <a:rPr lang="en-US" dirty="0" err="1"/>
                        <a:t>workspace_csv</a:t>
                      </a:r>
                      <a:r>
                        <a:rPr lang="en-US" dirty="0"/>
                        <a:t>, </a:t>
                      </a:r>
                      <a:r>
                        <a:rPr lang="en-US" dirty="0" err="1"/>
                        <a:t>trajectory_csv</a:t>
                      </a:r>
                      <a:endParaRPr lang="en-US" dirty="0"/>
                    </a:p>
                  </a:txBody>
                  <a:tcPr marL="88832" marR="88832"/>
                </a:tc>
                <a:tc>
                  <a:txBody>
                    <a:bodyPr/>
                    <a:lstStyle/>
                    <a:p>
                      <a:endParaRPr lang="en-US" dirty="0"/>
                    </a:p>
                  </a:txBody>
                  <a:tcPr marL="88832" marR="88832"/>
                </a:tc>
                <a:tc>
                  <a:txBody>
                    <a:bodyPr/>
                    <a:lstStyle/>
                    <a:p>
                      <a:r>
                        <a:rPr lang="en-US" dirty="0"/>
                        <a:t>Define action and observation space</a:t>
                      </a:r>
                    </a:p>
                  </a:txBody>
                  <a:tcPr marL="88832" marR="88832"/>
                </a:tc>
                <a:extLst>
                  <a:ext uri="{0D108BD9-81ED-4DB2-BD59-A6C34878D82A}">
                    <a16:rowId xmlns:a16="http://schemas.microsoft.com/office/drawing/2014/main" val="277916111"/>
                  </a:ext>
                </a:extLst>
              </a:tr>
              <a:tr h="370840">
                <a:tc>
                  <a:txBody>
                    <a:bodyPr/>
                    <a:lstStyle/>
                    <a:p>
                      <a:r>
                        <a:rPr lang="en-US" dirty="0" err="1"/>
                        <a:t>get_obs</a:t>
                      </a:r>
                      <a:endParaRPr lang="en-US" dirty="0"/>
                    </a:p>
                  </a:txBody>
                  <a:tcPr marL="88832" marR="88832"/>
                </a:tc>
                <a:tc>
                  <a:txBody>
                    <a:bodyPr/>
                    <a:lstStyle/>
                    <a:p>
                      <a:endParaRPr lang="en-US" dirty="0"/>
                    </a:p>
                  </a:txBody>
                  <a:tcPr marL="88832" marR="88832"/>
                </a:tc>
                <a:tc>
                  <a:txBody>
                    <a:bodyPr/>
                    <a:lstStyle/>
                    <a:p>
                      <a:r>
                        <a:rPr lang="en-US" dirty="0"/>
                        <a:t>[ax, ay, </a:t>
                      </a:r>
                      <a:r>
                        <a:rPr lang="en-US" dirty="0" err="1"/>
                        <a:t>tx</a:t>
                      </a:r>
                      <a:r>
                        <a:rPr lang="en-US" dirty="0"/>
                        <a:t>, ty, </a:t>
                      </a:r>
                      <a:r>
                        <a:rPr lang="en-US" dirty="0" err="1"/>
                        <a:t>dist</a:t>
                      </a:r>
                      <a:r>
                        <a:rPr lang="en-US" dirty="0"/>
                        <a:t>]</a:t>
                      </a:r>
                    </a:p>
                  </a:txBody>
                  <a:tcPr marL="88832" marR="88832"/>
                </a:tc>
                <a:tc>
                  <a:txBody>
                    <a:bodyPr/>
                    <a:lstStyle/>
                    <a:p>
                      <a:r>
                        <a:rPr lang="en-US" dirty="0"/>
                        <a:t>Compute </a:t>
                      </a:r>
                      <a:r>
                        <a:rPr lang="en-US" dirty="0" err="1"/>
                        <a:t>dist</a:t>
                      </a:r>
                      <a:r>
                        <a:rPr lang="en-US" dirty="0"/>
                        <a:t> and output the observation list</a:t>
                      </a:r>
                    </a:p>
                  </a:txBody>
                  <a:tcPr marL="88832" marR="88832"/>
                </a:tc>
                <a:extLst>
                  <a:ext uri="{0D108BD9-81ED-4DB2-BD59-A6C34878D82A}">
                    <a16:rowId xmlns:a16="http://schemas.microsoft.com/office/drawing/2014/main" val="4029582242"/>
                  </a:ext>
                </a:extLst>
              </a:tr>
              <a:tr h="370840">
                <a:tc>
                  <a:txBody>
                    <a:bodyPr/>
                    <a:lstStyle/>
                    <a:p>
                      <a:r>
                        <a:rPr lang="en-US" dirty="0"/>
                        <a:t>reset</a:t>
                      </a:r>
                    </a:p>
                  </a:txBody>
                  <a:tcPr marL="88832" marR="88832"/>
                </a:tc>
                <a:tc>
                  <a:txBody>
                    <a:bodyPr/>
                    <a:lstStyle/>
                    <a:p>
                      <a:endParaRPr lang="en-US" dirty="0"/>
                    </a:p>
                  </a:txBody>
                  <a:tcPr marL="88832" marR="88832"/>
                </a:tc>
                <a:tc>
                  <a:txBody>
                    <a:bodyPr/>
                    <a:lstStyle/>
                    <a:p>
                      <a:r>
                        <a:rPr lang="en-US" dirty="0"/>
                        <a:t>Observation and info</a:t>
                      </a:r>
                    </a:p>
                  </a:txBody>
                  <a:tcPr marL="88832" marR="88832"/>
                </a:tc>
                <a:tc>
                  <a:txBody>
                    <a:bodyPr/>
                    <a:lstStyle/>
                    <a:p>
                      <a:r>
                        <a:rPr lang="en-US" dirty="0"/>
                        <a:t>Set agent and target to start point</a:t>
                      </a:r>
                    </a:p>
                  </a:txBody>
                  <a:tcPr marL="88832" marR="88832"/>
                </a:tc>
                <a:extLst>
                  <a:ext uri="{0D108BD9-81ED-4DB2-BD59-A6C34878D82A}">
                    <a16:rowId xmlns:a16="http://schemas.microsoft.com/office/drawing/2014/main" val="1217124557"/>
                  </a:ext>
                </a:extLst>
              </a:tr>
              <a:tr h="370840">
                <a:tc>
                  <a:txBody>
                    <a:bodyPr/>
                    <a:lstStyle/>
                    <a:p>
                      <a:r>
                        <a:rPr lang="en-US" dirty="0"/>
                        <a:t>step</a:t>
                      </a:r>
                    </a:p>
                  </a:txBody>
                  <a:tcPr marL="88832" marR="88832"/>
                </a:tc>
                <a:tc>
                  <a:txBody>
                    <a:bodyPr/>
                    <a:lstStyle/>
                    <a:p>
                      <a:r>
                        <a:rPr lang="en-US" dirty="0"/>
                        <a:t>action</a:t>
                      </a:r>
                    </a:p>
                  </a:txBody>
                  <a:tcPr marL="88832" marR="88832"/>
                </a:tc>
                <a:tc>
                  <a:txBody>
                    <a:bodyPr/>
                    <a:lstStyle/>
                    <a:p>
                      <a:r>
                        <a:rPr lang="en-US" dirty="0"/>
                        <a:t>Observation, reward, terminated, truncated, info</a:t>
                      </a:r>
                    </a:p>
                  </a:txBody>
                  <a:tcPr marL="88832" marR="88832"/>
                </a:tc>
                <a:tc>
                  <a:txBody>
                    <a:bodyPr/>
                    <a:lstStyle/>
                    <a:p>
                      <a:r>
                        <a:rPr lang="en-US" dirty="0"/>
                        <a:t>Execute action, compute reward, send reward and next state to agent</a:t>
                      </a:r>
                    </a:p>
                  </a:txBody>
                  <a:tcPr marL="88832" marR="88832"/>
                </a:tc>
                <a:extLst>
                  <a:ext uri="{0D108BD9-81ED-4DB2-BD59-A6C34878D82A}">
                    <a16:rowId xmlns:a16="http://schemas.microsoft.com/office/drawing/2014/main" val="3149141492"/>
                  </a:ext>
                </a:extLst>
              </a:tr>
            </a:tbl>
          </a:graphicData>
        </a:graphic>
      </p:graphicFrame>
    </p:spTree>
    <p:extLst>
      <p:ext uri="{BB962C8B-B14F-4D97-AF65-F5344CB8AC3E}">
        <p14:creationId xmlns:p14="http://schemas.microsoft.com/office/powerpoint/2010/main" val="3405469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5ED78-2B5B-33F0-894B-D0F5F084453D}"/>
              </a:ext>
            </a:extLst>
          </p:cNvPr>
          <p:cNvSpPr>
            <a:spLocks noGrp="1"/>
          </p:cNvSpPr>
          <p:nvPr>
            <p:ph type="title"/>
          </p:nvPr>
        </p:nvSpPr>
        <p:spPr/>
        <p:txBody>
          <a:bodyPr/>
          <a:lstStyle/>
          <a:p>
            <a:r>
              <a:rPr lang="en-US" dirty="0"/>
              <a:t>Training</a:t>
            </a:r>
          </a:p>
        </p:txBody>
      </p:sp>
      <p:sp>
        <p:nvSpPr>
          <p:cNvPr id="3" name="Content Placeholder 2">
            <a:extLst>
              <a:ext uri="{FF2B5EF4-FFF2-40B4-BE49-F238E27FC236}">
                <a16:creationId xmlns:a16="http://schemas.microsoft.com/office/drawing/2014/main" id="{12718AF3-8429-1C99-5CF7-7D2E3E0ED179}"/>
              </a:ext>
            </a:extLst>
          </p:cNvPr>
          <p:cNvSpPr>
            <a:spLocks noGrp="1"/>
          </p:cNvSpPr>
          <p:nvPr>
            <p:ph idx="1"/>
          </p:nvPr>
        </p:nvSpPr>
        <p:spPr>
          <a:xfrm>
            <a:off x="913794" y="1732449"/>
            <a:ext cx="10963573" cy="4874828"/>
          </a:xfrm>
        </p:spPr>
        <p:txBody>
          <a:bodyPr>
            <a:normAutofit/>
          </a:bodyPr>
          <a:lstStyle/>
          <a:p>
            <a:r>
              <a:rPr lang="en-US" dirty="0"/>
              <a:t>Benchmark Model: Deep Q Network (DQN)</a:t>
            </a:r>
          </a:p>
          <a:p>
            <a:r>
              <a:rPr lang="en-US" dirty="0"/>
              <a:t>Average Reward Per Episode for the benchmark model: 230.5</a:t>
            </a:r>
          </a:p>
          <a:p>
            <a:r>
              <a:rPr lang="en-US" dirty="0"/>
              <a:t>Training Timesteps: 100000</a:t>
            </a:r>
          </a:p>
          <a:p>
            <a:r>
              <a:rPr lang="en-US" dirty="0"/>
              <a:t>Policy Class: </a:t>
            </a:r>
            <a:r>
              <a:rPr lang="en-US" dirty="0" err="1"/>
              <a:t>DQNPolicy</a:t>
            </a:r>
            <a:endParaRPr lang="en-US" dirty="0"/>
          </a:p>
          <a:p>
            <a:r>
              <a:rPr lang="en-US" dirty="0"/>
              <a:t>Q-Network (</a:t>
            </a:r>
            <a:r>
              <a:rPr lang="en-US" dirty="0" err="1"/>
              <a:t>q_net</a:t>
            </a:r>
            <a:r>
              <a:rPr lang="en-US" dirty="0"/>
              <a:t>) Artifacts:</a:t>
            </a:r>
          </a:p>
          <a:p>
            <a:pPr lvl="1"/>
            <a:r>
              <a:rPr lang="en-US" dirty="0"/>
              <a:t>Input Layer: 5 features corresponding to the observation vector: [ax, ay, </a:t>
            </a:r>
            <a:r>
              <a:rPr lang="en-US" dirty="0" err="1"/>
              <a:t>tx</a:t>
            </a:r>
            <a:r>
              <a:rPr lang="en-US" dirty="0"/>
              <a:t>., ty, </a:t>
            </a:r>
            <a:r>
              <a:rPr lang="en-US" dirty="0" err="1"/>
              <a:t>dist</a:t>
            </a:r>
            <a:r>
              <a:rPr lang="en-US" dirty="0"/>
              <a:t>]</a:t>
            </a:r>
          </a:p>
          <a:p>
            <a:pPr lvl="1"/>
            <a:r>
              <a:rPr lang="en-US" dirty="0"/>
              <a:t>Two Hidden Layers: 64 neurons each with </a:t>
            </a:r>
            <a:r>
              <a:rPr lang="en-US" dirty="0" err="1"/>
              <a:t>ReLu</a:t>
            </a:r>
            <a:r>
              <a:rPr lang="en-US" dirty="0"/>
              <a:t> activations</a:t>
            </a:r>
          </a:p>
          <a:p>
            <a:pPr lvl="1"/>
            <a:r>
              <a:rPr lang="en-US" dirty="0"/>
              <a:t>Output Layer: 4 Values corresponding to the 4 possible actions in the environment</a:t>
            </a:r>
          </a:p>
          <a:p>
            <a:r>
              <a:rPr lang="en-US" dirty="0"/>
              <a:t>Target Q-Network (</a:t>
            </a:r>
            <a:r>
              <a:rPr lang="en-US" dirty="0" err="1"/>
              <a:t>q_net_target</a:t>
            </a:r>
            <a:r>
              <a:rPr lang="en-US" dirty="0"/>
              <a:t>): same structure as the online network (used for stable training).</a:t>
            </a:r>
          </a:p>
          <a:p>
            <a:r>
              <a:rPr lang="en-US" dirty="0"/>
              <a:t>By keeping the target network stale for a while, DQN avoids instability and oscillation during training.</a:t>
            </a:r>
          </a:p>
          <a:p>
            <a:pPr lvl="1"/>
            <a:endParaRPr lang="en-US" dirty="0"/>
          </a:p>
        </p:txBody>
      </p:sp>
    </p:spTree>
    <p:extLst>
      <p:ext uri="{BB962C8B-B14F-4D97-AF65-F5344CB8AC3E}">
        <p14:creationId xmlns:p14="http://schemas.microsoft.com/office/powerpoint/2010/main" val="3202916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F9619-CC2B-5D83-504C-9E8A2D9ECA3A}"/>
              </a:ext>
            </a:extLst>
          </p:cNvPr>
          <p:cNvSpPr>
            <a:spLocks noGrp="1"/>
          </p:cNvSpPr>
          <p:nvPr>
            <p:ph type="title"/>
          </p:nvPr>
        </p:nvSpPr>
        <p:spPr/>
        <p:txBody>
          <a:bodyPr/>
          <a:lstStyle/>
          <a:p>
            <a:r>
              <a:rPr lang="en-US" dirty="0"/>
              <a:t>Results</a:t>
            </a:r>
          </a:p>
        </p:txBody>
      </p:sp>
      <p:pic>
        <p:nvPicPr>
          <p:cNvPr id="5" name="Content Placeholder 4">
            <a:extLst>
              <a:ext uri="{FF2B5EF4-FFF2-40B4-BE49-F238E27FC236}">
                <a16:creationId xmlns:a16="http://schemas.microsoft.com/office/drawing/2014/main" id="{9DE67ACD-47AD-C976-C7A2-E4928D12617E}"/>
              </a:ext>
            </a:extLst>
          </p:cNvPr>
          <p:cNvPicPr>
            <a:picLocks noGrp="1" noChangeAspect="1"/>
          </p:cNvPicPr>
          <p:nvPr>
            <p:ph idx="1"/>
          </p:nvPr>
        </p:nvPicPr>
        <p:blipFill>
          <a:blip r:embed="rId2"/>
          <a:stretch>
            <a:fillRect/>
          </a:stretch>
        </p:blipFill>
        <p:spPr>
          <a:xfrm>
            <a:off x="492182" y="1727131"/>
            <a:ext cx="4511163" cy="2186108"/>
          </a:xfrm>
          <a:prstGeom prst="rect">
            <a:avLst/>
          </a:prstGeom>
          <a:effectLst>
            <a:outerShdw blurRad="25400" dir="17880000">
              <a:srgbClr val="000000">
                <a:alpha val="46000"/>
              </a:srgbClr>
            </a:outerShdw>
          </a:effectLst>
        </p:spPr>
      </p:pic>
      <p:pic>
        <p:nvPicPr>
          <p:cNvPr id="9" name="Picture 8">
            <a:extLst>
              <a:ext uri="{FF2B5EF4-FFF2-40B4-BE49-F238E27FC236}">
                <a16:creationId xmlns:a16="http://schemas.microsoft.com/office/drawing/2014/main" id="{69083F65-960E-192B-2210-EA565C56237D}"/>
              </a:ext>
            </a:extLst>
          </p:cNvPr>
          <p:cNvPicPr>
            <a:picLocks noChangeAspect="1"/>
          </p:cNvPicPr>
          <p:nvPr/>
        </p:nvPicPr>
        <p:blipFill>
          <a:blip r:embed="rId3"/>
          <a:stretch>
            <a:fillRect/>
          </a:stretch>
        </p:blipFill>
        <p:spPr>
          <a:xfrm>
            <a:off x="452283" y="4063074"/>
            <a:ext cx="4393746" cy="2333588"/>
          </a:xfrm>
          <a:prstGeom prst="rect">
            <a:avLst/>
          </a:prstGeom>
        </p:spPr>
      </p:pic>
      <p:pic>
        <p:nvPicPr>
          <p:cNvPr id="4" name="Picture 3">
            <a:extLst>
              <a:ext uri="{FF2B5EF4-FFF2-40B4-BE49-F238E27FC236}">
                <a16:creationId xmlns:a16="http://schemas.microsoft.com/office/drawing/2014/main" id="{77380E7D-CBF1-FF92-2664-EF79895E3BDA}"/>
              </a:ext>
            </a:extLst>
          </p:cNvPr>
          <p:cNvPicPr>
            <a:picLocks noChangeAspect="1"/>
          </p:cNvPicPr>
          <p:nvPr/>
        </p:nvPicPr>
        <p:blipFill>
          <a:blip r:embed="rId4"/>
          <a:stretch>
            <a:fillRect/>
          </a:stretch>
        </p:blipFill>
        <p:spPr>
          <a:xfrm>
            <a:off x="6096000" y="1442150"/>
            <a:ext cx="4290432" cy="2766300"/>
          </a:xfrm>
          <a:prstGeom prst="rect">
            <a:avLst/>
          </a:prstGeom>
        </p:spPr>
      </p:pic>
      <p:pic>
        <p:nvPicPr>
          <p:cNvPr id="8" name="Picture 7">
            <a:extLst>
              <a:ext uri="{FF2B5EF4-FFF2-40B4-BE49-F238E27FC236}">
                <a16:creationId xmlns:a16="http://schemas.microsoft.com/office/drawing/2014/main" id="{87ED4DE1-27F6-297C-A145-689054FDB203}"/>
              </a:ext>
            </a:extLst>
          </p:cNvPr>
          <p:cNvPicPr>
            <a:picLocks noChangeAspect="1"/>
          </p:cNvPicPr>
          <p:nvPr/>
        </p:nvPicPr>
        <p:blipFill>
          <a:blip r:embed="rId5"/>
          <a:stretch>
            <a:fillRect/>
          </a:stretch>
        </p:blipFill>
        <p:spPr>
          <a:xfrm>
            <a:off x="5938684" y="3614961"/>
            <a:ext cx="4374259" cy="2636748"/>
          </a:xfrm>
          <a:prstGeom prst="rect">
            <a:avLst/>
          </a:prstGeom>
        </p:spPr>
      </p:pic>
    </p:spTree>
    <p:extLst>
      <p:ext uri="{BB962C8B-B14F-4D97-AF65-F5344CB8AC3E}">
        <p14:creationId xmlns:p14="http://schemas.microsoft.com/office/powerpoint/2010/main" val="1060377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3B39-55D7-823C-5585-6AB45F88D9B4}"/>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C95E90B7-EFE5-73D2-803C-41CBB2DA1DC9}"/>
              </a:ext>
            </a:extLst>
          </p:cNvPr>
          <p:cNvSpPr>
            <a:spLocks noGrp="1"/>
          </p:cNvSpPr>
          <p:nvPr>
            <p:ph idx="1"/>
          </p:nvPr>
        </p:nvSpPr>
        <p:spPr/>
        <p:txBody>
          <a:bodyPr/>
          <a:lstStyle/>
          <a:p>
            <a:r>
              <a:rPr lang="en-US" dirty="0"/>
              <a:t>Force Sensor Constraints: The reinforcement learning algorithm currently leverages the kinematics of the robot to model the environment, and ignores the dynamics of the robot because of the constraints posed by the force sensors that are used to fetch the variables of the robot dynamics:</a:t>
            </a:r>
          </a:p>
          <a:p>
            <a:pPr lvl="1"/>
            <a:r>
              <a:rPr lang="en-US" dirty="0"/>
              <a:t>Large amount of noise detected in the readings of the force sensor makes it unreliable for further computations and </a:t>
            </a:r>
          </a:p>
          <a:p>
            <a:pPr lvl="1"/>
            <a:r>
              <a:rPr lang="en-US" dirty="0"/>
              <a:t>Non-responsiveness of the force sensor in an unpredictable pattern.</a:t>
            </a:r>
          </a:p>
          <a:p>
            <a:endParaRPr lang="en-US" dirty="0"/>
          </a:p>
          <a:p>
            <a:r>
              <a:rPr lang="en-US" dirty="0"/>
              <a:t>Difference in Language: The current control app of PULSR is </a:t>
            </a:r>
            <a:r>
              <a:rPr lang="en-US" dirty="0" err="1"/>
              <a:t>harcoded</a:t>
            </a:r>
            <a:r>
              <a:rPr lang="en-US" dirty="0"/>
              <a:t> in C# and the reinforcement learning prototype is written in python. Interfacing these two languages poses a huge constraint to the deployment of the reinforcement learning model.</a:t>
            </a:r>
          </a:p>
        </p:txBody>
      </p:sp>
    </p:spTree>
    <p:extLst>
      <p:ext uri="{BB962C8B-B14F-4D97-AF65-F5344CB8AC3E}">
        <p14:creationId xmlns:p14="http://schemas.microsoft.com/office/powerpoint/2010/main" val="313390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09503-28FE-075A-F2AA-70B54E9D9926}"/>
              </a:ext>
            </a:extLst>
          </p:cNvPr>
          <p:cNvSpPr>
            <a:spLocks noGrp="1"/>
          </p:cNvSpPr>
          <p:nvPr>
            <p:ph type="title"/>
          </p:nvPr>
        </p:nvSpPr>
        <p:spPr>
          <a:xfrm>
            <a:off x="1097280" y="-126352"/>
            <a:ext cx="10058400" cy="1450757"/>
          </a:xfrm>
        </p:spPr>
        <p:txBody>
          <a:bodyPr/>
          <a:lstStyle/>
          <a:p>
            <a:r>
              <a:rPr lang="en-US" dirty="0"/>
              <a:t>A Visualization of the Large Errors in the Force Sensors</a:t>
            </a:r>
          </a:p>
        </p:txBody>
      </p:sp>
      <p:sp>
        <p:nvSpPr>
          <p:cNvPr id="3" name="Content Placeholder 2">
            <a:extLst>
              <a:ext uri="{FF2B5EF4-FFF2-40B4-BE49-F238E27FC236}">
                <a16:creationId xmlns:a16="http://schemas.microsoft.com/office/drawing/2014/main" id="{5F0BE99E-524E-A6A1-F0DE-E2E766C0A10E}"/>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7D604A8F-FB68-D5D8-4CC9-FD4CD5574242}"/>
              </a:ext>
            </a:extLst>
          </p:cNvPr>
          <p:cNvPicPr>
            <a:picLocks noChangeAspect="1"/>
          </p:cNvPicPr>
          <p:nvPr/>
        </p:nvPicPr>
        <p:blipFill>
          <a:blip r:embed="rId2"/>
          <a:stretch>
            <a:fillRect/>
          </a:stretch>
        </p:blipFill>
        <p:spPr>
          <a:xfrm>
            <a:off x="1036320" y="1233953"/>
            <a:ext cx="9876376" cy="5624047"/>
          </a:xfrm>
          <a:prstGeom prst="rect">
            <a:avLst/>
          </a:prstGeom>
        </p:spPr>
      </p:pic>
    </p:spTree>
    <p:extLst>
      <p:ext uri="{BB962C8B-B14F-4D97-AF65-F5344CB8AC3E}">
        <p14:creationId xmlns:p14="http://schemas.microsoft.com/office/powerpoint/2010/main" val="3785800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E7A5C-200B-CBEB-6487-95D0691D0D84}"/>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EAF66FF3-7229-1E2C-F270-C0117B84C089}"/>
              </a:ext>
            </a:extLst>
          </p:cNvPr>
          <p:cNvSpPr>
            <a:spLocks noGrp="1"/>
          </p:cNvSpPr>
          <p:nvPr>
            <p:ph idx="1"/>
          </p:nvPr>
        </p:nvSpPr>
        <p:spPr/>
        <p:txBody>
          <a:bodyPr/>
          <a:lstStyle/>
          <a:p>
            <a:r>
              <a:rPr lang="en-US" dirty="0"/>
              <a:t>Further research can consider leveraging the dynamics of the robot together with its kinematics to model the environment for RL algorithm.</a:t>
            </a:r>
          </a:p>
          <a:p>
            <a:r>
              <a:rPr lang="en-US" dirty="0"/>
              <a:t>In subsequent research, the C# codebase could be converted to Python for ease of implementing RL algorithms.</a:t>
            </a:r>
          </a:p>
          <a:p>
            <a:r>
              <a:rPr lang="en-US" dirty="0"/>
              <a:t>The C# codebase can alternatively be standardized into a fetchable API that will enable RL algorithms to send and receive requests with python.</a:t>
            </a:r>
          </a:p>
          <a:p>
            <a:r>
              <a:rPr lang="en-US" dirty="0"/>
              <a:t>Reinforcement Learning frameworks like </a:t>
            </a:r>
            <a:r>
              <a:rPr lang="en-US" dirty="0" err="1"/>
              <a:t>TorchSharp</a:t>
            </a:r>
            <a:r>
              <a:rPr lang="en-US" dirty="0"/>
              <a:t> for C#, can also be considered alternatively in further research. </a:t>
            </a:r>
          </a:p>
        </p:txBody>
      </p:sp>
    </p:spTree>
    <p:extLst>
      <p:ext uri="{BB962C8B-B14F-4D97-AF65-F5344CB8AC3E}">
        <p14:creationId xmlns:p14="http://schemas.microsoft.com/office/powerpoint/2010/main" val="3512389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0A2EB-1783-5C2F-ADD0-BE0EC50CAEA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5EAE7B7-70A6-0153-074A-E60DB1E8EA66}"/>
              </a:ext>
            </a:extLst>
          </p:cNvPr>
          <p:cNvSpPr>
            <a:spLocks noGrp="1"/>
          </p:cNvSpPr>
          <p:nvPr>
            <p:ph idx="1"/>
          </p:nvPr>
        </p:nvSpPr>
        <p:spPr/>
        <p:txBody>
          <a:bodyPr>
            <a:normAutofit/>
          </a:bodyPr>
          <a:lstStyle/>
          <a:p>
            <a:pPr marL="36900" indent="0">
              <a:buNone/>
            </a:pPr>
            <a:r>
              <a:rPr lang="en-US" sz="3200" dirty="0"/>
              <a:t>Given the Platform for Upper Limb Stroke Rehabilitation Robot (PULSR) controlled by an app hardcoded in C#, this project successfully designs and develops a high-performance reinforcement learning model for the brushless DC motor actuated parallelogram arm robot, leveraging the kinematics of the robot.</a:t>
            </a:r>
          </a:p>
        </p:txBody>
      </p:sp>
    </p:spTree>
    <p:extLst>
      <p:ext uri="{BB962C8B-B14F-4D97-AF65-F5344CB8AC3E}">
        <p14:creationId xmlns:p14="http://schemas.microsoft.com/office/powerpoint/2010/main" val="1723949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68723-7FBE-C715-9F56-1D3860523617}"/>
              </a:ext>
            </a:extLst>
          </p:cNvPr>
          <p:cNvSpPr>
            <a:spLocks noGrp="1"/>
          </p:cNvSpPr>
          <p:nvPr>
            <p:ph type="title"/>
          </p:nvPr>
        </p:nvSpPr>
        <p:spPr>
          <a:xfrm>
            <a:off x="1012117" y="2458550"/>
            <a:ext cx="10353762" cy="970450"/>
          </a:xfrm>
        </p:spPr>
        <p:txBody>
          <a:bodyPr>
            <a:normAutofit/>
          </a:bodyPr>
          <a:lstStyle/>
          <a:p>
            <a:r>
              <a:rPr lang="en-US" sz="6000" b="1" dirty="0">
                <a:solidFill>
                  <a:schemeClr val="tx1"/>
                </a:solidFill>
              </a:rPr>
              <a:t>Thank you.</a:t>
            </a:r>
          </a:p>
        </p:txBody>
      </p:sp>
    </p:spTree>
    <p:extLst>
      <p:ext uri="{BB962C8B-B14F-4D97-AF65-F5344CB8AC3E}">
        <p14:creationId xmlns:p14="http://schemas.microsoft.com/office/powerpoint/2010/main" val="32729661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Y_IGNORE_UCW" val="true"/>
  <p:tag name="PPT/NOTESMASTERS/NOTESMASTER1.XML" val="269585421"/>
  <p:tag name="PPT/NOTESSLIDES/NOTESSLIDE1.XML" val="2502949506"/>
  <p:tag name="PPT/SLIDES/SLIDE19.XML" val="3909860894"/>
  <p:tag name="PPT/THEME/THEME2.XML" val="3520736427"/>
  <p:tag name="PPT/SLIDES/SLIDE1.XML" val="3446560663"/>
  <p:tag name="PPT/SLIDES/SLIDE2.XML" val="2851422761"/>
  <p:tag name="PPT/SLIDES/SLIDE3.XML" val="2308332554"/>
  <p:tag name="PPT/SLIDES/SLIDE4.XML" val="617779902"/>
  <p:tag name="PPT/SLIDES/SLIDE5.XML" val="3222966774"/>
  <p:tag name="PPT/SLIDES/SLIDE6.XML" val="4089892496"/>
  <p:tag name="PPT/SLIDES/SLIDE7.XML" val="1786103459"/>
  <p:tag name="PPT/SLIDES/SLIDE8.XML" val="1098889287"/>
  <p:tag name="PPT/SLIDES/SLIDE9.XML" val="3827080473"/>
  <p:tag name="PPT/SLIDES/SLIDE10.XML" val="375317251"/>
  <p:tag name="PPT/SLIDES/SLIDE11.XML" val="1752630504"/>
  <p:tag name="PPT/SLIDES/SLIDE12.XML" val="191030372"/>
  <p:tag name="PPT/SLIDES/SLIDE13.XML" val="3262086774"/>
  <p:tag name="PPT/SLIDES/SLIDE14.XML" val="407221090"/>
  <p:tag name="PPT/SLIDES/SLIDE15.XML" val="2289157067"/>
  <p:tag name="PPT/SLIDES/SLIDE16.XML" val="1303688308"/>
  <p:tag name="PPT/SLIDES/SLIDE17.XML" val="4257483612"/>
  <p:tag name="PPT/SLIDES/SLIDE18.XML" val="3689096"/>
  <p:tag name="PPT/SLIDEMASTERS/SLIDEMASTER1.XML" val="1540053696"/>
  <p:tag name="PPT/SLIDELAYOUTS/SLIDELAYOUT1.XML" val="2562775982"/>
  <p:tag name="PPT/SLIDELAYOUTS/SLIDELAYOUT2.XML" val="3627584759"/>
  <p:tag name="PPT/SLIDELAYOUTS/SLIDELAYOUT3.XML" val="3815169371"/>
  <p:tag name="PPT/SLIDELAYOUTS/SLIDELAYOUT4.XML" val="604714245"/>
  <p:tag name="PPT/SLIDELAYOUTS/SLIDELAYOUT5.XML" val="3851280486"/>
  <p:tag name="PPT/SLIDELAYOUTS/SLIDELAYOUT6.XML" val="3238583155"/>
  <p:tag name="PPT/SLIDELAYOUTS/SLIDELAYOUT7.XML" val="942881413"/>
  <p:tag name="PPT/SLIDELAYOUTS/SLIDELAYOUT8.XML" val="2843900790"/>
  <p:tag name="PPT/SLIDELAYOUTS/SLIDELAYOUT9.XML" val="2777909849"/>
  <p:tag name="PPT/SLIDELAYOUTS/SLIDELAYOUT10.XML" val="2611926500"/>
  <p:tag name="PPT/SLIDELAYOUTS/SLIDELAYOUT11.XML" val="305894582"/>
  <p:tag name="PPT/SLIDELAYOUTS/SLIDELAYOUT12.XML" val="4023072751"/>
  <p:tag name="PPT/SLIDELAYOUTS/SLIDELAYOUT13.XML" val="4187983642"/>
  <p:tag name="PPT/SLIDELAYOUTS/SLIDELAYOUT14.XML" val="2684569616"/>
  <p:tag name="PPT/SLIDELAYOUTS/SLIDELAYOUT15.XML" val="2556070614"/>
  <p:tag name="PPT/SLIDELAYOUTS/SLIDELAYOUT16.XML" val="4121291667"/>
  <p:tag name="PPT/SLIDELAYOUTS/SLIDELAYOUT17.XML" val="554542898"/>
  <p:tag name="PPT/THEME/THEME1.XML" val="1246563183"/>
  <p:tag name="PPT/MEDIA/IMAGE1.JPEG" val="1658799467"/>
  <p:tag name="PPT/MEDIA/IMAGE2.PNG" val="1684348348"/>
  <p:tag name="PPT/MEDIA/IMAGE3.PNG" val="2324415098"/>
  <p:tag name="PPT/MEDIA/IMAGE4.PNG" val="2674051180"/>
  <p:tag name="PPT/MEDIA/IMAGE5.PNG" val="89234649"/>
  <p:tag name="PPT/MEDIA/IMAGE6.PNG" val="758817329"/>
  <p:tag name="PPT/MEDIA/IMAGE7.JPG" val="2677892887"/>
  <p:tag name="PPT/MEDIA/IMAGE8.PNG" val="1764391141"/>
  <p:tag name="PPT/MEDIA/IMAGE9.PNG" val="4177120749"/>
  <p:tag name="PPT/MEDIA/IMAGE10.PNG" val="993634417"/>
  <p:tag name="PPT/MEDIA/IMAGE16.PNG" val="2121281813"/>
  <p:tag name="PPT/MEDIA/IMAGE21.PNG" val="3163590947"/>
  <p:tag name="PPT/MEDIA/IMAGE22.PNG" val="1964339109"/>
  <p:tag name="PPT/MEDIA/IMAGE13.PNG" val="2971847604"/>
  <p:tag name="PPT/MEDIA/IMAGE11.PNG" val="1672207851"/>
  <p:tag name="PPT/MEDIA/IMAGE17.PNG" val="1874546138"/>
  <p:tag name="PPT/MEDIA/IMAGE12.PNG" val="3045606998"/>
  <p:tag name="PPT/MEDIA/IMAGE14.PNG" val="791638558"/>
  <p:tag name="PPT/MEDIA/IMAGE18.PNG" val="207575871"/>
  <p:tag name="PPT/MEDIA/IMAGE15.PNG" val="3132275144"/>
  <p:tag name="PPT/MEDIA/IMAGE19.PNG" val="1222486468"/>
  <p:tag name="PPT/MEDIA/IMAGE20.PNG" val="4017487317"/>
  <p:tag name="PPT/MEDIA/MEDIA1.MP4" val="1492003146"/>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0</TotalTime>
  <Words>980</Words>
  <Application>Microsoft Office PowerPoint</Application>
  <PresentationFormat>Widescreen</PresentationFormat>
  <Paragraphs>102</Paragraphs>
  <Slides>21</Slides>
  <Notes>1</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Wingdings</vt:lpstr>
      <vt:lpstr>Retrospect</vt:lpstr>
      <vt:lpstr> DEVELOPMENT OF REINFORCEMENT LEARNING CONTROL OF A BRUSHLESS DC MOTOR ACTUATED PARALLELOGRAM ARM REHABILITATION ROBOT  YUNUS Mujahid Olalekan Supervisor: Prof K.P. Ayodele September 2025</vt:lpstr>
      <vt:lpstr>Problem Statement</vt:lpstr>
      <vt:lpstr>Goal of the Project</vt:lpstr>
      <vt:lpstr>Objectives of the Project</vt:lpstr>
      <vt:lpstr>State-of-the-art in RL for Rehab Robotics</vt:lpstr>
      <vt:lpstr>Foundational Theories: PULSR Kinematics</vt:lpstr>
      <vt:lpstr>Foundational Theories: PULSR Dynamics</vt:lpstr>
      <vt:lpstr>Foundational Theories: PULSR Dynamics</vt:lpstr>
      <vt:lpstr>PULSR Current Control</vt:lpstr>
      <vt:lpstr>PowerPoint Presentation</vt:lpstr>
      <vt:lpstr>RL Problem Formulation for PULSR</vt:lpstr>
      <vt:lpstr>Development of RL Environment for PULSR</vt:lpstr>
      <vt:lpstr>Development of RL Environment for PULSR</vt:lpstr>
      <vt:lpstr>Development of RL Environment for PULSR</vt:lpstr>
      <vt:lpstr>Training</vt:lpstr>
      <vt:lpstr>Results</vt:lpstr>
      <vt:lpstr>Challenges</vt:lpstr>
      <vt:lpstr>A Visualization of the Large Errors in the Force Sensors</vt:lpstr>
      <vt:lpstr>Recommendations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Mujahid Yunus</cp:lastModifiedBy>
  <cp:revision>1</cp:revision>
  <dcterms:modified xsi:type="dcterms:W3CDTF">2025-09-09T14:38:19Z</dcterms:modified>
</cp:coreProperties>
</file>